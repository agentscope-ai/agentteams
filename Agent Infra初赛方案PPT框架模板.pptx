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8" r:id="rId6"/>
    <p:sldId id="268" r:id="rId7"/>
    <p:sldId id="259" r:id="rId8"/>
    <p:sldId id="269" r:id="rId9"/>
    <p:sldId id="270" r:id="rId10"/>
    <p:sldId id="260" r:id="rId11"/>
    <p:sldId id="271" r:id="rId12"/>
    <p:sldId id="261" r:id="rId13"/>
    <p:sldId id="272" r:id="rId14"/>
    <p:sldId id="262" r:id="rId15"/>
    <p:sldId id="273" r:id="rId16"/>
    <p:sldId id="263" r:id="rId17"/>
    <p:sldId id="274" r:id="rId18"/>
    <p:sldId id="264" r:id="rId19"/>
    <p:sldId id="275" r:id="rId20"/>
    <p:sldId id="26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3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36" d="100"/>
          <a:sy n="136" d="100"/>
        </p:scale>
        <p:origin x="216" y="312"/>
      </p:cViewPr>
      <p:guideLst>
        <p:guide orient="horz" pos="1933"/>
        <p:guide pos="3840"/>
        <p:guide orient="horz" pos="233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280160"/>
            <a:ext cx="4114800" cy="4114800"/>
          </a:xfrm>
          <a:prstGeom prst="ellipse">
            <a:avLst/>
          </a:prstGeom>
          <a:solidFill>
            <a:srgbClr val="2A2F5B"/>
          </a:solidFill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A2F5B"/>
          </a:solidFill>
        </p:spPr>
      </p:sp>
      <p:sp>
        <p:nvSpPr>
          <p:cNvPr id="4" name="Shape 2"/>
          <p:cNvSpPr/>
          <p:nvPr/>
        </p:nvSpPr>
        <p:spPr>
          <a:xfrm>
            <a:off x="-822960" y="4937760"/>
            <a:ext cx="2743200" cy="2743200"/>
          </a:xfrm>
          <a:prstGeom prst="ellipse">
            <a:avLst/>
          </a:prstGeom>
          <a:solidFill>
            <a:srgbClr val="2A2F5B"/>
          </a:solidFill>
        </p:spPr>
      </p:sp>
      <p:sp>
        <p:nvSpPr>
          <p:cNvPr id="5" name="Text 3"/>
          <p:cNvSpPr/>
          <p:nvPr/>
        </p:nvSpPr>
        <p:spPr>
          <a:xfrm>
            <a:off x="594360" y="1554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GOAI</a:t>
            </a:r>
            <a:r>
              <a:rPr lang="zh-CN" altLang="en-US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世界人工智能开源大赛</a:t>
            </a:r>
            <a:r>
              <a:rPr lang="en-US" altLang="zh-CN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868680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初赛方案 PPT</a:t>
            </a:r>
            <a:endParaRPr lang="en-US" sz="4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内容框架模板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594360" y="6172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6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Datawhale · 参赛选手参考资料</a:t>
            </a:r>
            <a:endParaRPr lang="en-US" sz="1100" dirty="0"/>
          </a:p>
        </p:txBody>
      </p:sp>
      <p:sp>
        <p:nvSpPr>
          <p:cNvPr id="19" name="文本框 18"/>
          <p:cNvSpPr txBox="1"/>
          <p:nvPr/>
        </p:nvSpPr>
        <p:spPr>
          <a:xfrm>
            <a:off x="594360" y="3826510"/>
            <a:ext cx="6096000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Agent Infra </a:t>
            </a:r>
            <a:r>
              <a:rPr lang="zh-CN" altLang="en-US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新智基座</a:t>
            </a:r>
            <a:r>
              <a:rPr lang="en-US" altLang="zh-CN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 </a:t>
            </a:r>
            <a:r>
              <a:rPr lang="en-US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初赛 · 方案 PPT 模板</a:t>
            </a:r>
            <a:endParaRPr lang="en-US" altLang="en-US" sz="1500" b="1" kern="0" spc="200" dirty="0">
              <a:solidFill>
                <a:srgbClr val="FF6B3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P0 · 一页纸速览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作品简介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</p:sp>
      <p:sp>
        <p:nvSpPr>
          <p:cNvPr id="6" name="Shape 4"/>
          <p:cNvSpPr/>
          <p:nvPr/>
        </p:nvSpPr>
        <p:spPr>
          <a:xfrm>
            <a:off x="850392" y="2221992"/>
            <a:ext cx="146304" cy="146304"/>
          </a:xfrm>
          <a:prstGeom prst="ellipse">
            <a:avLst/>
          </a:prstGeom>
          <a:solidFill>
            <a:srgbClr val="FF6B35"/>
          </a:solidFill>
        </p:spPr>
      </p:sp>
      <p:sp>
        <p:nvSpPr>
          <p:cNvPr id="7" name="Text 5"/>
          <p:cNvSpPr/>
          <p:nvPr/>
        </p:nvSpPr>
        <p:spPr>
          <a:xfrm>
            <a:off x="1097280" y="2130552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项目名称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0392" y="2514600"/>
            <a:ext cx="302757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≤ 20 字。一句话说清「为谁、解决什么」。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0392" y="3063240"/>
            <a:ext cx="30275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1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【在此填写项目名称】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53458" y="1965960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</p:sp>
      <p:sp>
        <p:nvSpPr>
          <p:cNvPr id="11" name="Shape 9"/>
          <p:cNvSpPr/>
          <p:nvPr/>
        </p:nvSpPr>
        <p:spPr>
          <a:xfrm>
            <a:off x="4609490" y="2221992"/>
            <a:ext cx="146304" cy="146304"/>
          </a:xfrm>
          <a:prstGeom prst="ellipse">
            <a:avLst/>
          </a:prstGeom>
          <a:solidFill>
            <a:srgbClr val="FF6B35"/>
          </a:solidFill>
        </p:spPr>
      </p:sp>
      <p:sp>
        <p:nvSpPr>
          <p:cNvPr id="12" name="Text 10"/>
          <p:cNvSpPr/>
          <p:nvPr/>
        </p:nvSpPr>
        <p:spPr>
          <a:xfrm>
            <a:off x="4856378" y="2130552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问题与场景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09490" y="2514600"/>
            <a:ext cx="302757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目标用户是谁、在什么场景、现实痛点是什么。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09490" y="3063240"/>
            <a:ext cx="30275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1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【描述真实场景与核心痛点】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12557" y="1965960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</p:sp>
      <p:sp>
        <p:nvSpPr>
          <p:cNvPr id="16" name="Shape 14"/>
          <p:cNvSpPr/>
          <p:nvPr/>
        </p:nvSpPr>
        <p:spPr>
          <a:xfrm>
            <a:off x="8368589" y="2221992"/>
            <a:ext cx="146304" cy="146304"/>
          </a:xfrm>
          <a:prstGeom prst="ellipse">
            <a:avLst/>
          </a:prstGeom>
          <a:solidFill>
            <a:srgbClr val="FF6B35"/>
          </a:solidFill>
        </p:spPr>
      </p:sp>
      <p:sp>
        <p:nvSpPr>
          <p:cNvPr id="17" name="Text 15"/>
          <p:cNvSpPr/>
          <p:nvPr/>
        </p:nvSpPr>
        <p:spPr>
          <a:xfrm>
            <a:off x="8615477" y="2130552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核心解决方案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8589" y="2514600"/>
            <a:ext cx="302757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一句话讲清整体思路：用多 Agent + Skill 怎么解。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68589" y="3063240"/>
            <a:ext cx="30275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1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【概述端到端解决方案】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3776472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</p:sp>
      <p:sp>
        <p:nvSpPr>
          <p:cNvPr id="21" name="Shape 19"/>
          <p:cNvSpPr/>
          <p:nvPr/>
        </p:nvSpPr>
        <p:spPr>
          <a:xfrm>
            <a:off x="850392" y="4032504"/>
            <a:ext cx="146304" cy="146304"/>
          </a:xfrm>
          <a:prstGeom prst="ellipse">
            <a:avLst/>
          </a:prstGeom>
          <a:solidFill>
            <a:srgbClr val="FF6B35"/>
          </a:solidFill>
        </p:spPr>
      </p:sp>
      <p:sp>
        <p:nvSpPr>
          <p:cNvPr id="22" name="Text 20"/>
          <p:cNvSpPr/>
          <p:nvPr/>
        </p:nvSpPr>
        <p:spPr>
          <a:xfrm>
            <a:off x="1097280" y="3941064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创新点与差异化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50392" y="4325112"/>
            <a:ext cx="302757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对比现有做法，你独特/更优在哪。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0392" y="4873752"/>
            <a:ext cx="30275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1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【列 1–2 个关键差异化优势】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53458" y="3776472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</p:sp>
      <p:sp>
        <p:nvSpPr>
          <p:cNvPr id="26" name="Shape 24"/>
          <p:cNvSpPr/>
          <p:nvPr/>
        </p:nvSpPr>
        <p:spPr>
          <a:xfrm>
            <a:off x="4609490" y="4032504"/>
            <a:ext cx="146304" cy="146304"/>
          </a:xfrm>
          <a:prstGeom prst="ellipse">
            <a:avLst/>
          </a:prstGeom>
          <a:solidFill>
            <a:srgbClr val="FF6B35"/>
          </a:solidFill>
        </p:spPr>
      </p:sp>
      <p:sp>
        <p:nvSpPr>
          <p:cNvPr id="27" name="Text 25"/>
          <p:cNvSpPr/>
          <p:nvPr/>
        </p:nvSpPr>
        <p:spPr>
          <a:xfrm>
            <a:off x="4856378" y="3941064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 / 复用价值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09490" y="4325112"/>
            <a:ext cx="302757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可复用成果、能迁移到哪些场景。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09490" y="4873752"/>
            <a:ext cx="30275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1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【说明复用与迁移价值】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12557" y="3776472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</p:sp>
      <p:sp>
        <p:nvSpPr>
          <p:cNvPr id="31" name="Shape 29"/>
          <p:cNvSpPr/>
          <p:nvPr/>
        </p:nvSpPr>
        <p:spPr>
          <a:xfrm>
            <a:off x="8368589" y="4032504"/>
            <a:ext cx="146304" cy="146304"/>
          </a:xfrm>
          <a:prstGeom prst="ellipse">
            <a:avLst/>
          </a:prstGeom>
          <a:solidFill>
            <a:srgbClr val="FF6B35"/>
          </a:solidFill>
        </p:spPr>
      </p:sp>
      <p:sp>
        <p:nvSpPr>
          <p:cNvPr id="32" name="Text 30"/>
          <p:cNvSpPr/>
          <p:nvPr/>
        </p:nvSpPr>
        <p:spPr>
          <a:xfrm>
            <a:off x="8615477" y="3941064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当前进展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68589" y="4325112"/>
            <a:ext cx="302757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做到了什么程度、有无可运行成果。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68589" y="4873752"/>
            <a:ext cx="30275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1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【说明当前完成度与里程碑】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2A2F5B"/>
          </a:solidFill>
        </p:spPr>
      </p:sp>
      <p:sp>
        <p:nvSpPr>
          <p:cNvPr id="3" name="Shape 1"/>
          <p:cNvSpPr/>
          <p:nvPr/>
        </p:nvSpPr>
        <p:spPr>
          <a:xfrm>
            <a:off x="-914400" y="4754880"/>
            <a:ext cx="2926080" cy="2926080"/>
          </a:xfrm>
          <a:prstGeom prst="ellipse">
            <a:avLst/>
          </a:prstGeom>
          <a:solidFill>
            <a:srgbClr val="2A2F5B"/>
          </a:solidFill>
        </p:spPr>
      </p:sp>
      <p:sp>
        <p:nvSpPr>
          <p:cNvPr id="5" name="Text 3"/>
          <p:cNvSpPr/>
          <p:nvPr/>
        </p:nvSpPr>
        <p:spPr>
          <a:xfrm>
            <a:off x="594360" y="105156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zh-CN" altLang="en-US" sz="3000" b="1" dirty="0">
              <a:solidFill>
                <a:srgbClr val="FFFFF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" y="2057400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</p:sp>
      <p:sp>
        <p:nvSpPr>
          <p:cNvPr id="7" name="Shape 5"/>
          <p:cNvSpPr/>
          <p:nvPr/>
        </p:nvSpPr>
        <p:spPr>
          <a:xfrm>
            <a:off x="795528" y="230428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8" name="Text 6"/>
          <p:cNvSpPr/>
          <p:nvPr/>
        </p:nvSpPr>
        <p:spPr>
          <a:xfrm>
            <a:off x="795528" y="230428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16152" y="2057400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场景与价值</a:t>
            </a:r>
            <a:endParaRPr lang="zh-CN" alt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24448" y="2057400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</p:sp>
      <p:sp>
        <p:nvSpPr>
          <p:cNvPr id="11" name="Shape 9"/>
          <p:cNvSpPr/>
          <p:nvPr/>
        </p:nvSpPr>
        <p:spPr>
          <a:xfrm>
            <a:off x="6525616" y="230428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12" name="Text 10"/>
          <p:cNvSpPr/>
          <p:nvPr/>
        </p:nvSpPr>
        <p:spPr>
          <a:xfrm>
            <a:off x="6525616" y="230428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46240" y="2057400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工程落地、运行验证与安全可审计</a:t>
            </a:r>
            <a:endParaRPr 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4360" y="3099816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</p:sp>
      <p:sp>
        <p:nvSpPr>
          <p:cNvPr id="15" name="Shape 13"/>
          <p:cNvSpPr/>
          <p:nvPr/>
        </p:nvSpPr>
        <p:spPr>
          <a:xfrm>
            <a:off x="795528" y="334670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16" name="Text 14"/>
          <p:cNvSpPr/>
          <p:nvPr/>
        </p:nvSpPr>
        <p:spPr>
          <a:xfrm>
            <a:off x="795528" y="334670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16152" y="3099816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方案总览</a:t>
            </a:r>
            <a:endParaRPr lang="zh-CN" alt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24448" y="3099816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</p:sp>
      <p:sp>
        <p:nvSpPr>
          <p:cNvPr id="19" name="Shape 17"/>
          <p:cNvSpPr/>
          <p:nvPr/>
        </p:nvSpPr>
        <p:spPr>
          <a:xfrm>
            <a:off x="6525616" y="334670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20" name="Text 18"/>
          <p:cNvSpPr/>
          <p:nvPr/>
        </p:nvSpPr>
        <p:spPr>
          <a:xfrm>
            <a:off x="6525616" y="334670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46240" y="3099816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开源开放计划</a:t>
            </a:r>
            <a:endParaRPr lang="zh-CN" alt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94360" y="4142232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  <p:txBody>
          <a:bodyPr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95528" y="43891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24" name="Text 22"/>
          <p:cNvSpPr/>
          <p:nvPr/>
        </p:nvSpPr>
        <p:spPr>
          <a:xfrm>
            <a:off x="795528" y="43891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16152" y="4142232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</a:t>
            </a:r>
            <a:r>
              <a:rPr lang="en-US" altLang="zh-CN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</a:t>
            </a: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协同设计</a:t>
            </a:r>
            <a:endParaRPr lang="zh-CN" alt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24448" y="4142232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</p:sp>
      <p:sp>
        <p:nvSpPr>
          <p:cNvPr id="27" name="Shape 25"/>
          <p:cNvSpPr/>
          <p:nvPr/>
        </p:nvSpPr>
        <p:spPr>
          <a:xfrm>
            <a:off x="6525616" y="43891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28" name="Text 26"/>
          <p:cNvSpPr/>
          <p:nvPr/>
        </p:nvSpPr>
        <p:spPr>
          <a:xfrm>
            <a:off x="6525616" y="43891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46240" y="4142232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落地计划与进展</a:t>
            </a:r>
            <a:endParaRPr 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94360" y="5184648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</p:sp>
      <p:sp>
        <p:nvSpPr>
          <p:cNvPr id="31" name="Shape 29"/>
          <p:cNvSpPr/>
          <p:nvPr/>
        </p:nvSpPr>
        <p:spPr>
          <a:xfrm>
            <a:off x="795528" y="543153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32" name="Text 30"/>
          <p:cNvSpPr/>
          <p:nvPr/>
        </p:nvSpPr>
        <p:spPr>
          <a:xfrm>
            <a:off x="795528" y="543153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216152" y="5184648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Skills</a:t>
            </a: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工具体系</a:t>
            </a:r>
            <a:endParaRPr lang="zh-CN" alt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24448" y="5184648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</p:sp>
      <p:sp>
        <p:nvSpPr>
          <p:cNvPr id="35" name="Shape 33"/>
          <p:cNvSpPr/>
          <p:nvPr/>
        </p:nvSpPr>
        <p:spPr>
          <a:xfrm>
            <a:off x="6525616" y="543153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36" name="Text 34"/>
          <p:cNvSpPr/>
          <p:nvPr/>
        </p:nvSpPr>
        <p:spPr>
          <a:xfrm>
            <a:off x="6525616" y="543153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8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46240" y="5184648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Demo</a:t>
            </a: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视频（如有</a:t>
            </a:r>
            <a:r>
              <a:rPr lang="en-US" altLang="zh-CN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）</a:t>
            </a:r>
            <a:endParaRPr lang="en-US" altLang="zh-CN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62783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37103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场景与价值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345375" y="363855"/>
            <a:ext cx="4480560" cy="786384"/>
          </a:xfrm>
          <a:prstGeom prst="roundRect">
            <a:avLst>
              <a:gd name="adj" fmla="val 11628"/>
            </a:avLst>
          </a:prstGeom>
          <a:solidFill>
            <a:srgbClr val="FFEDE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46543" y="455295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对应评分维度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546543" y="674751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场景价值与行业可复制性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0774375" y="528447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</p:spPr>
      </p:sp>
      <p:sp>
        <p:nvSpPr>
          <p:cNvPr id="8" name="Text 6"/>
          <p:cNvSpPr/>
          <p:nvPr/>
        </p:nvSpPr>
        <p:spPr>
          <a:xfrm>
            <a:off x="10774375" y="528447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25%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0"/>
          <p:cNvSpPr/>
          <p:nvPr/>
        </p:nvSpPr>
        <p:spPr>
          <a:xfrm>
            <a:off x="340360" y="27482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40360" y="54914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场景与价值</a:t>
            </a:r>
            <a:endParaRPr lang="en-US" sz="2900" dirty="0"/>
          </a:p>
        </p:txBody>
      </p:sp>
      <p:sp>
        <p:nvSpPr>
          <p:cNvPr id="5" name="文本框 4"/>
          <p:cNvSpPr txBox="1"/>
          <p:nvPr/>
        </p:nvSpPr>
        <p:spPr>
          <a:xfrm>
            <a:off x="244475" y="1189355"/>
            <a:ext cx="80130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itchFamily="34" charset="0"/>
                <a:ea typeface="微软雅黑" pitchFamily="34" charset="0"/>
              </a:rPr>
              <a:t>建议覆盖目标用户与核心痛点、真实场景、可量化的价值收益、行业可复制性，以及你的创新点与差异化优势。</a:t>
            </a:r>
            <a:endParaRPr lang="zh-CN" altLang="en-US">
              <a:latin typeface="微软雅黑" pitchFamily="34" charset="0"/>
              <a:ea typeface="微软雅黑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360" y="2390775"/>
            <a:ext cx="5560060" cy="31273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968115" y="55740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（</a:t>
            </a:r>
            <a:r>
              <a:rPr lang="zh-CN" altLang="en-US"/>
              <a:t>示例</a:t>
            </a:r>
            <a:r>
              <a:rPr lang="en-US" altLang="zh-CN"/>
              <a:t>）</a:t>
            </a:r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505" y="2390775"/>
            <a:ext cx="5485765" cy="31013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62783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</a:t>
            </a:r>
            <a:r>
              <a:rPr lang="zh-CN" alt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</a:t>
            </a: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37103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</a:t>
            </a:r>
            <a:r>
              <a:rPr lang="zh-CN" alt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总览</a:t>
            </a:r>
            <a:endParaRPr lang="zh-CN" altLang="en-US" sz="2900" b="1" dirty="0">
              <a:solidFill>
                <a:srgbClr val="1B1F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第二章 · 承上启下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方案总览</a:t>
            </a:r>
            <a:endParaRPr lang="en-US" sz="2900" dirty="0"/>
          </a:p>
        </p:txBody>
      </p:sp>
      <p:sp>
        <p:nvSpPr>
          <p:cNvPr id="32" name="Text 30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文本框 37"/>
          <p:cNvSpPr txBox="1"/>
          <p:nvPr/>
        </p:nvSpPr>
        <p:spPr>
          <a:xfrm>
            <a:off x="525780" y="1204595"/>
            <a:ext cx="8013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itchFamily="34" charset="0"/>
                <a:ea typeface="微软雅黑" pitchFamily="34" charset="0"/>
              </a:rPr>
              <a:t>建议用一张架构图呈现整体方案，说明端到端主流程和关键技术选型的必要性。</a:t>
            </a:r>
            <a:endParaRPr lang="zh-CN" altLang="en-US">
              <a:latin typeface="微软雅黑" pitchFamily="34" charset="0"/>
              <a:ea typeface="微软雅黑" pitchFamily="34" charset="0"/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7415" y="1801495"/>
            <a:ext cx="7837805" cy="44183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0"/>
          <p:cNvSpPr/>
          <p:nvPr/>
        </p:nvSpPr>
        <p:spPr>
          <a:xfrm>
            <a:off x="594360" y="296722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594360" y="324154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 Agent 协同设计</a:t>
            </a:r>
            <a:endParaRPr lang="en-US" sz="2900" dirty="0"/>
          </a:p>
        </p:txBody>
      </p:sp>
      <p:sp>
        <p:nvSpPr>
          <p:cNvPr id="7" name="Shape 2"/>
          <p:cNvSpPr/>
          <p:nvPr/>
        </p:nvSpPr>
        <p:spPr>
          <a:xfrm>
            <a:off x="7116775" y="457200"/>
            <a:ext cx="4480560" cy="786384"/>
          </a:xfrm>
          <a:prstGeom prst="roundRect">
            <a:avLst>
              <a:gd name="adj" fmla="val 11628"/>
            </a:avLst>
          </a:prstGeom>
          <a:solidFill>
            <a:srgbClr val="FFEDE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7317943" y="54864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对应评分维度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7317943" y="768096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 Agent 协同与自主闭环能力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10545775" y="62179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</p:spPr>
      </p:sp>
      <p:sp>
        <p:nvSpPr>
          <p:cNvPr id="11" name="Text 6"/>
          <p:cNvSpPr/>
          <p:nvPr/>
        </p:nvSpPr>
        <p:spPr>
          <a:xfrm>
            <a:off x="10545775" y="62179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25%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 Agent 协同设计</a:t>
            </a:r>
            <a:endParaRPr lang="en-US" sz="2900" dirty="0"/>
          </a:p>
        </p:txBody>
      </p:sp>
      <p:sp>
        <p:nvSpPr>
          <p:cNvPr id="38" name="文本框 37"/>
          <p:cNvSpPr txBox="1"/>
          <p:nvPr/>
        </p:nvSpPr>
        <p:spPr>
          <a:xfrm>
            <a:off x="525780" y="1204595"/>
            <a:ext cx="80130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itchFamily="34" charset="0"/>
                <a:ea typeface="微软雅黑" pitchFamily="34" charset="0"/>
              </a:rPr>
              <a:t>建议覆盖</a:t>
            </a:r>
            <a:r>
              <a:rPr lang="en-US" altLang="zh-CN">
                <a:latin typeface="微软雅黑" pitchFamily="34" charset="0"/>
                <a:ea typeface="微软雅黑" pitchFamily="34" charset="0"/>
              </a:rPr>
              <a:t> Agent </a:t>
            </a:r>
            <a:r>
              <a:rPr lang="zh-CN" altLang="en-US">
                <a:latin typeface="微软雅黑" pitchFamily="34" charset="0"/>
                <a:ea typeface="微软雅黑" pitchFamily="34" charset="0"/>
              </a:rPr>
              <a:t>分工、任务拆解、上下文传递与状态流转、异常与冲突处理，以及高风险动作的安全边界。</a:t>
            </a:r>
            <a:endParaRPr lang="zh-CN" altLang="en-US">
              <a:latin typeface="微软雅黑" pitchFamily="34" charset="0"/>
              <a:ea typeface="微软雅黑" pitchFamily="34" charset="0"/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" y="2304415"/>
            <a:ext cx="5283200" cy="2964180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9370" y="2304415"/>
            <a:ext cx="5285740" cy="29641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2" name="Text 0"/>
          <p:cNvSpPr/>
          <p:nvPr/>
        </p:nvSpPr>
        <p:spPr>
          <a:xfrm>
            <a:off x="594360" y="2967863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42183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 工程体系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116775" y="457200"/>
            <a:ext cx="4480560" cy="786384"/>
          </a:xfrm>
          <a:prstGeom prst="roundRect">
            <a:avLst>
              <a:gd name="adj" fmla="val 11628"/>
            </a:avLst>
          </a:prstGeom>
          <a:solidFill>
            <a:srgbClr val="FFEDE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3"/>
          <p:cNvSpPr/>
          <p:nvPr/>
        </p:nvSpPr>
        <p:spPr>
          <a:xfrm>
            <a:off x="7317943" y="54864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对应评分维度</a:t>
            </a:r>
            <a:endParaRPr lang="en-US" sz="1000" dirty="0"/>
          </a:p>
        </p:txBody>
      </p:sp>
      <p:sp>
        <p:nvSpPr>
          <p:cNvPr id="13" name="Text 4"/>
          <p:cNvSpPr/>
          <p:nvPr/>
        </p:nvSpPr>
        <p:spPr>
          <a:xfrm>
            <a:off x="7317943" y="768096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 工程体系与生态复用</a:t>
            </a:r>
            <a:endParaRPr lang="en-US" sz="1250" dirty="0"/>
          </a:p>
        </p:txBody>
      </p:sp>
      <p:sp>
        <p:nvSpPr>
          <p:cNvPr id="14" name="Shape 5"/>
          <p:cNvSpPr/>
          <p:nvPr/>
        </p:nvSpPr>
        <p:spPr>
          <a:xfrm>
            <a:off x="10545775" y="62179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</p:spPr>
      </p:sp>
      <p:sp>
        <p:nvSpPr>
          <p:cNvPr id="15" name="Text 6"/>
          <p:cNvSpPr/>
          <p:nvPr/>
        </p:nvSpPr>
        <p:spPr>
          <a:xfrm>
            <a:off x="10545775" y="62179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25%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第四章 · 本赛题必选项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 工程体系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10545775" y="62179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</p:spPr>
      </p:sp>
      <p:sp>
        <p:nvSpPr>
          <p:cNvPr id="8" name="Text 6"/>
          <p:cNvSpPr/>
          <p:nvPr/>
        </p:nvSpPr>
        <p:spPr>
          <a:xfrm>
            <a:off x="10545775" y="62179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25%</a:t>
            </a:r>
            <a:endParaRPr lang="en-US" sz="1500" dirty="0"/>
          </a:p>
        </p:txBody>
      </p:sp>
      <p:sp>
        <p:nvSpPr>
          <p:cNvPr id="38" name="文本框 37"/>
          <p:cNvSpPr txBox="1"/>
          <p:nvPr/>
        </p:nvSpPr>
        <p:spPr>
          <a:xfrm>
            <a:off x="525780" y="1204595"/>
            <a:ext cx="80130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itchFamily="34" charset="0"/>
                <a:ea typeface="微软雅黑" pitchFamily="34" charset="0"/>
              </a:rPr>
              <a:t>建议覆盖</a:t>
            </a:r>
            <a:r>
              <a:rPr lang="en-US" altLang="zh-CN">
                <a:latin typeface="微软雅黑" pitchFamily="34" charset="0"/>
                <a:ea typeface="微软雅黑" pitchFamily="34" charset="0"/>
              </a:rPr>
              <a:t> Skill </a:t>
            </a:r>
            <a:r>
              <a:rPr lang="zh-CN" altLang="en-US">
                <a:latin typeface="微软雅黑" pitchFamily="34" charset="0"/>
                <a:ea typeface="微软雅黑" pitchFamily="34" charset="0"/>
              </a:rPr>
              <a:t>清单与任务覆盖、单个</a:t>
            </a:r>
            <a:r>
              <a:rPr lang="en-US" altLang="zh-CN">
                <a:latin typeface="微软雅黑" pitchFamily="34" charset="0"/>
                <a:ea typeface="微软雅黑" pitchFamily="34" charset="0"/>
              </a:rPr>
              <a:t> Skill </a:t>
            </a:r>
            <a:r>
              <a:rPr lang="zh-CN" altLang="en-US">
                <a:latin typeface="微软雅黑" pitchFamily="34" charset="0"/>
                <a:ea typeface="微软雅黑" pitchFamily="34" charset="0"/>
              </a:rPr>
              <a:t>的规格（输入输出</a:t>
            </a:r>
            <a:r>
              <a:rPr lang="en-US" altLang="zh-CN">
                <a:latin typeface="微软雅黑" pitchFamily="34" charset="0"/>
                <a:ea typeface="微软雅黑" pitchFamily="34" charset="0"/>
              </a:rPr>
              <a:t>/</a:t>
            </a:r>
            <a:r>
              <a:rPr lang="zh-CN" altLang="en-US">
                <a:latin typeface="微软雅黑" pitchFamily="34" charset="0"/>
                <a:ea typeface="微软雅黑" pitchFamily="34" charset="0"/>
              </a:rPr>
              <a:t>依赖</a:t>
            </a:r>
            <a:r>
              <a:rPr lang="en-US" altLang="zh-CN">
                <a:latin typeface="微软雅黑" pitchFamily="34" charset="0"/>
                <a:ea typeface="微软雅黑" pitchFamily="34" charset="0"/>
              </a:rPr>
              <a:t>/</a:t>
            </a:r>
            <a:r>
              <a:rPr lang="zh-CN" altLang="en-US">
                <a:latin typeface="微软雅黑" pitchFamily="34" charset="0"/>
                <a:ea typeface="微软雅黑" pitchFamily="34" charset="0"/>
              </a:rPr>
              <a:t>失败处理）、复用性、生命周期管理，以及对官方</a:t>
            </a:r>
            <a:r>
              <a:rPr lang="en-US" altLang="zh-CN">
                <a:latin typeface="微软雅黑" pitchFamily="34" charset="0"/>
                <a:ea typeface="微软雅黑" pitchFamily="34" charset="0"/>
              </a:rPr>
              <a:t> Skills </a:t>
            </a:r>
            <a:r>
              <a:rPr lang="zh-CN" altLang="en-US">
                <a:latin typeface="微软雅黑" pitchFamily="34" charset="0"/>
                <a:ea typeface="微软雅黑" pitchFamily="34" charset="0"/>
              </a:rPr>
              <a:t>的复用。</a:t>
            </a:r>
            <a:endParaRPr lang="zh-CN" altLang="en-US">
              <a:latin typeface="微软雅黑" pitchFamily="34" charset="0"/>
              <a:ea typeface="微软雅黑" pitchFamily="34" charset="0"/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5165" y="2377440"/>
            <a:ext cx="5741670" cy="32353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0"/>
          <p:cNvSpPr/>
          <p:nvPr/>
        </p:nvSpPr>
        <p:spPr>
          <a:xfrm>
            <a:off x="594360" y="2991993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第五章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594360" y="3266313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工程落地、运行验证与安全可审计</a:t>
            </a:r>
            <a:endParaRPr lang="en-US" sz="2900" dirty="0"/>
          </a:p>
        </p:txBody>
      </p:sp>
      <p:sp>
        <p:nvSpPr>
          <p:cNvPr id="7" name="Shape 2"/>
          <p:cNvSpPr/>
          <p:nvPr/>
        </p:nvSpPr>
        <p:spPr>
          <a:xfrm>
            <a:off x="7116775" y="457200"/>
            <a:ext cx="4480560" cy="786384"/>
          </a:xfrm>
          <a:prstGeom prst="roundRect">
            <a:avLst>
              <a:gd name="adj" fmla="val 11628"/>
            </a:avLst>
          </a:prstGeom>
          <a:solidFill>
            <a:srgbClr val="FFEDE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7317943" y="54864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对应评分维度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7317943" y="768096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工程落地与安全可审计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10545775" y="62179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</p:spPr>
      </p:sp>
      <p:sp>
        <p:nvSpPr>
          <p:cNvPr id="11" name="Text 6"/>
          <p:cNvSpPr/>
          <p:nvPr/>
        </p:nvSpPr>
        <p:spPr>
          <a:xfrm>
            <a:off x="10545775" y="62179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20%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第五章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工程落地、运行验证与安全可审计</a:t>
            </a:r>
            <a:endParaRPr lang="en-US" sz="2900" dirty="0"/>
          </a:p>
        </p:txBody>
      </p:sp>
      <p:sp>
        <p:nvSpPr>
          <p:cNvPr id="38" name="文本框 37"/>
          <p:cNvSpPr txBox="1"/>
          <p:nvPr/>
        </p:nvSpPr>
        <p:spPr>
          <a:xfrm>
            <a:off x="525780" y="1204595"/>
            <a:ext cx="80130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itchFamily="34" charset="0"/>
                <a:ea typeface="微软雅黑" pitchFamily="34" charset="0"/>
              </a:rPr>
              <a:t>建议覆盖可运行性、运行证据、可观测与检索链路、安全治理机制，以及云产品选型的必要性与边界。</a:t>
            </a:r>
            <a:endParaRPr lang="zh-CN" altLang="en-US">
              <a:latin typeface="微软雅黑" pitchFamily="34" charset="0"/>
              <a:ea typeface="微软雅黑" pitchFamily="34" charset="0"/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8200" y="1988820"/>
            <a:ext cx="3830087" cy="2160000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535" y="1996440"/>
            <a:ext cx="3837275" cy="2160000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200" y="4288155"/>
            <a:ext cx="3838315" cy="2160000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535" y="4303395"/>
            <a:ext cx="38318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2" name="Text 0"/>
          <p:cNvSpPr/>
          <p:nvPr/>
        </p:nvSpPr>
        <p:spPr>
          <a:xfrm>
            <a:off x="594360" y="298373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第六章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5805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 / 开源计划</a:t>
            </a:r>
            <a:endParaRPr lang="en-US" sz="2900" dirty="0"/>
          </a:p>
        </p:txBody>
      </p:sp>
      <p:sp>
        <p:nvSpPr>
          <p:cNvPr id="16" name="Shape 2"/>
          <p:cNvSpPr/>
          <p:nvPr/>
        </p:nvSpPr>
        <p:spPr>
          <a:xfrm>
            <a:off x="7116775" y="457200"/>
            <a:ext cx="4480560" cy="786384"/>
          </a:xfrm>
          <a:prstGeom prst="roundRect">
            <a:avLst>
              <a:gd name="adj" fmla="val 11628"/>
            </a:avLst>
          </a:prstGeom>
          <a:solidFill>
            <a:srgbClr val="FFEDE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3"/>
          <p:cNvSpPr/>
          <p:nvPr/>
        </p:nvSpPr>
        <p:spPr>
          <a:xfrm>
            <a:off x="7317943" y="54864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对应评分维度</a:t>
            </a:r>
            <a:endParaRPr lang="en-US" sz="1000" dirty="0"/>
          </a:p>
        </p:txBody>
      </p:sp>
      <p:sp>
        <p:nvSpPr>
          <p:cNvPr id="18" name="Text 4"/>
          <p:cNvSpPr/>
          <p:nvPr/>
        </p:nvSpPr>
        <p:spPr>
          <a:xfrm>
            <a:off x="7317943" y="768096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 / 开源贡献</a:t>
            </a:r>
            <a:endParaRPr lang="en-US" sz="1250" dirty="0"/>
          </a:p>
        </p:txBody>
      </p:sp>
      <p:sp>
        <p:nvSpPr>
          <p:cNvPr id="19" name="Shape 5"/>
          <p:cNvSpPr/>
          <p:nvPr/>
        </p:nvSpPr>
        <p:spPr>
          <a:xfrm>
            <a:off x="10545775" y="62179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</p:spPr>
      </p:sp>
      <p:sp>
        <p:nvSpPr>
          <p:cNvPr id="20" name="Text 6"/>
          <p:cNvSpPr/>
          <p:nvPr/>
        </p:nvSpPr>
        <p:spPr>
          <a:xfrm>
            <a:off x="10545775" y="62179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5%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第六章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 / 开源计划</a:t>
            </a:r>
            <a:endParaRPr lang="en-US" sz="2900" dirty="0"/>
          </a:p>
        </p:txBody>
      </p:sp>
      <p:sp>
        <p:nvSpPr>
          <p:cNvPr id="38" name="文本框 37"/>
          <p:cNvSpPr txBox="1"/>
          <p:nvPr/>
        </p:nvSpPr>
        <p:spPr>
          <a:xfrm>
            <a:off x="525780" y="1204595"/>
            <a:ext cx="8013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itchFamily="34" charset="0"/>
                <a:ea typeface="微软雅黑" pitchFamily="34" charset="0"/>
              </a:rPr>
              <a:t>建议覆盖可复用成果、接口契约与文档示例，以及开源协议与第三方依赖。</a:t>
            </a:r>
            <a:endParaRPr lang="zh-CN" altLang="en-US">
              <a:latin typeface="微软雅黑" pitchFamily="34" charset="0"/>
              <a:ea typeface="微软雅黑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0"/>
          <p:cNvSpPr/>
          <p:nvPr/>
        </p:nvSpPr>
        <p:spPr>
          <a:xfrm>
            <a:off x="594360" y="299262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第七章 · 对应「当前进展」与整体可行性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94360" y="326694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落地计划与进展</a:t>
            </a:r>
            <a:endParaRPr lang="en-US" sz="2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第七章 · 对应「当前进展」与整体可行性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落地计划与进展</a:t>
            </a:r>
            <a:endParaRPr lang="en-US" sz="2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000" dirty="0"/>
          </a:p>
        </p:txBody>
      </p:sp>
      <p:sp>
        <p:nvSpPr>
          <p:cNvPr id="38" name="文本框 37"/>
          <p:cNvSpPr txBox="1"/>
          <p:nvPr/>
        </p:nvSpPr>
        <p:spPr>
          <a:xfrm>
            <a:off x="594360" y="1298575"/>
            <a:ext cx="8013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建议覆盖当前进展、里程碑与落地计划，以及风险控制。</a:t>
            </a:r>
            <a:endParaRPr lang="zh-CN" altLang="en-US">
              <a:latin typeface="微软雅黑" pitchFamily="34" charset="0"/>
              <a:ea typeface="微软雅黑" pitchFamily="34" charset="0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640" y="2328545"/>
            <a:ext cx="4911725" cy="2768600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9210" y="2458720"/>
            <a:ext cx="5327015" cy="24822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1053</Words>
  <Application>WPS 文字</Application>
  <PresentationFormat>On-screen Show (16:9)</PresentationFormat>
  <Paragraphs>207</Paragraphs>
  <Slides>17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Calibri</vt:lpstr>
      <vt:lpstr>Helvetica Neue</vt:lpstr>
      <vt:lpstr>宋体</vt:lpstr>
      <vt:lpstr>Arial Unicode MS</vt:lpstr>
      <vt:lpstr>等线</vt:lpstr>
      <vt:lpstr>汉仪中等线KW</vt:lpstr>
      <vt:lpstr>汉仪书宋二KW</vt:lpstr>
      <vt:lpstr>儷宋 Pro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初赛方案 PPT 内容框架模板</dc:title>
  <dc:creator>Datawhale</dc:creator>
  <dc:subject>PptxGenJS Presentation</dc:subject>
  <cp:lastModifiedBy>cindy</cp:lastModifiedBy>
  <cp:revision>3</cp:revision>
  <dcterms:created xsi:type="dcterms:W3CDTF">2026-07-22T13:11:20Z</dcterms:created>
  <dcterms:modified xsi:type="dcterms:W3CDTF">2026-07-22T13:11:20Z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5719E5F9252FDE0A5FC1606A5CF016BE_42</vt:lpwstr>
  </property>
  <property fmtid="{D5CDD505-2E9C-101B-9397-08002B2CF9AE}" pid="3" name="KSOProductBuildVer">
    <vt:lpwstr>2052-12.1.22218.22218</vt:lpwstr>
  </property>
</Properties>
</file>