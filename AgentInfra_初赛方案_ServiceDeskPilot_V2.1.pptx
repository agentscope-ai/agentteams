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7559675" cy="10691813"/>
  <p:defaultTextStyle/>
</p:presentation>
</file>

<file path=ppt/presProps.xml><?xml version="1.0" encoding="utf-8"?>
<p:presentationPr xmlns:p="http://schemas.openxmlformats.org/presentationml/2006/main">
  <p:showPr showNarration="1"/>
</p:presentation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7" Type="http://schemas.openxmlformats.org/officeDocument/2006/relationships/slide" Target="slides/slide7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4" Type="http://schemas.openxmlformats.org/officeDocument/2006/relationships/slide" Target="slides/slide4.xml" /><Relationship Id="rId19" Type="http://schemas.openxmlformats.org/officeDocument/2006/relationships/presProps" Target="presProps.xml" /><Relationship Id="rId2" Type="http://schemas.openxmlformats.org/officeDocument/2006/relationships/slide" Target="slides/slide2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blank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13.svg" /><Relationship Id="rId0" Type="http://schemas.openxmlformats.org/officeDocument/2006/relationships/slideLayout" Target="../slideLayouts/slideLayout1.xml" /><Relationship Id="rId7" Type="http://schemas.openxmlformats.org/officeDocument/2006/relationships/image" Target="media/image18.svg" /><Relationship Id="rId1" Type="http://schemas.openxmlformats.org/officeDocument/2006/relationships/image" Target="media/image12.svg" /><Relationship Id="rId6" Type="http://schemas.openxmlformats.org/officeDocument/2006/relationships/image" Target="media/image17.svg" /><Relationship Id="rId3" Type="http://schemas.openxmlformats.org/officeDocument/2006/relationships/image" Target="media/image14.svg" /><Relationship Id="rId4" Type="http://schemas.openxmlformats.org/officeDocument/2006/relationships/image" Target="media/image15.svg" /><Relationship Id="rId5" Type="http://schemas.openxmlformats.org/officeDocument/2006/relationships/image" Target="media/image16.svg" /><Relationship Id="rId8" Type="http://schemas.openxmlformats.org/officeDocument/2006/relationships/image" Target="media/image19.svg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0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1.svg" /><Relationship Id="rId3" Type="http://schemas.openxmlformats.org/officeDocument/2006/relationships/image" Target="media/image22.svg" /><Relationship Id="rId4" Type="http://schemas.openxmlformats.org/officeDocument/2006/relationships/image" Target="media/image23.svg" /><Relationship Id="rId5" Type="http://schemas.openxmlformats.org/officeDocument/2006/relationships/image" Target="media/image24.svg" /><Relationship Id="rId6" Type="http://schemas.openxmlformats.org/officeDocument/2006/relationships/image" Target="media/image25.svg" /><Relationship Id="rId7" Type="http://schemas.openxmlformats.org/officeDocument/2006/relationships/image" Target="media/image26.svg" /><Relationship Id="rId8" Type="http://schemas.openxmlformats.org/officeDocument/2006/relationships/image" Target="media/image27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8.svg" /><Relationship Id="rId2" Type="http://schemas.openxmlformats.org/officeDocument/2006/relationships/image" Target="media/image29.svg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0.svg" /><Relationship Id="rId2" Type="http://schemas.openxmlformats.org/officeDocument/2006/relationships/image" Target="media/image31.svg" /><Relationship Id="rId3" Type="http://schemas.openxmlformats.org/officeDocument/2006/relationships/image" Target="media/image32.svg" /><Relationship Id="rId4" Type="http://schemas.openxmlformats.org/officeDocument/2006/relationships/image" Target="media/image5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3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7.svg" /><Relationship Id="rId3" Type="http://schemas.openxmlformats.org/officeDocument/2006/relationships/image" Target="media/image8.svg" /><Relationship Id="rId4" Type="http://schemas.openxmlformats.org/officeDocument/2006/relationships/image" Target="media/image9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Relationship Id="rId2" Type="http://schemas.openxmlformats.org/officeDocument/2006/relationships/image" Target="media/image11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60000">
                <a:srgbClr val="3B82F6"/>
              </a:gs>
              <a:gs pos="100000">
                <a:srgbClr val="06B6D4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"/>
          <p:cNvSpPr/>
          <p:nvPr/>
        </p:nvSpPr>
        <p:spPr>
          <a:xfrm>
            <a:off x="8381880" y="-1143000"/>
            <a:ext cx="4571640" cy="4571640"/>
          </a:xfrm>
          <a:custGeom>
            <a:avLst/>
            <a:gdLst/>
            <a:ahLst/>
            <a:rect l="l" t="t" r="r" b="b"/>
            <a:pathLst>
              <a:path w="480" h="480">
                <a:moveTo>
                  <a:pt x="400" y="419"/>
                </a:moveTo>
                <a:lnTo>
                  <a:pt x="397" y="421"/>
                </a:lnTo>
                <a:lnTo>
                  <a:pt x="393" y="425"/>
                </a:lnTo>
                <a:lnTo>
                  <a:pt x="388" y="429"/>
                </a:lnTo>
                <a:lnTo>
                  <a:pt x="384" y="432"/>
                </a:lnTo>
                <a:lnTo>
                  <a:pt x="379" y="436"/>
                </a:lnTo>
                <a:lnTo>
                  <a:pt x="374" y="439"/>
                </a:lnTo>
                <a:lnTo>
                  <a:pt x="369" y="442"/>
                </a:lnTo>
                <a:lnTo>
                  <a:pt x="364" y="445"/>
                </a:lnTo>
                <a:lnTo>
                  <a:pt x="359" y="448"/>
                </a:lnTo>
                <a:lnTo>
                  <a:pt x="354" y="451"/>
                </a:lnTo>
                <a:lnTo>
                  <a:pt x="349" y="454"/>
                </a:lnTo>
                <a:lnTo>
                  <a:pt x="344" y="456"/>
                </a:lnTo>
                <a:lnTo>
                  <a:pt x="339" y="459"/>
                </a:lnTo>
                <a:lnTo>
                  <a:pt x="333" y="461"/>
                </a:lnTo>
                <a:lnTo>
                  <a:pt x="328" y="463"/>
                </a:lnTo>
                <a:lnTo>
                  <a:pt x="322" y="465"/>
                </a:lnTo>
                <a:lnTo>
                  <a:pt x="317" y="467"/>
                </a:lnTo>
                <a:lnTo>
                  <a:pt x="311" y="469"/>
                </a:lnTo>
                <a:lnTo>
                  <a:pt x="306" y="471"/>
                </a:lnTo>
                <a:lnTo>
                  <a:pt x="300" y="472"/>
                </a:lnTo>
                <a:lnTo>
                  <a:pt x="294" y="474"/>
                </a:lnTo>
                <a:lnTo>
                  <a:pt x="288" y="475"/>
                </a:lnTo>
                <a:lnTo>
                  <a:pt x="282" y="476"/>
                </a:lnTo>
                <a:lnTo>
                  <a:pt x="277" y="477"/>
                </a:lnTo>
                <a:lnTo>
                  <a:pt x="271" y="478"/>
                </a:lnTo>
                <a:lnTo>
                  <a:pt x="265" y="479"/>
                </a:lnTo>
                <a:lnTo>
                  <a:pt x="258" y="479"/>
                </a:lnTo>
                <a:lnTo>
                  <a:pt x="252" y="480"/>
                </a:lnTo>
                <a:lnTo>
                  <a:pt x="246" y="480"/>
                </a:lnTo>
                <a:lnTo>
                  <a:pt x="240" y="480"/>
                </a:lnTo>
                <a:lnTo>
                  <a:pt x="234" y="480"/>
                </a:lnTo>
                <a:lnTo>
                  <a:pt x="228" y="480"/>
                </a:lnTo>
                <a:lnTo>
                  <a:pt x="222" y="479"/>
                </a:lnTo>
                <a:lnTo>
                  <a:pt x="215" y="479"/>
                </a:lnTo>
                <a:lnTo>
                  <a:pt x="209" y="478"/>
                </a:lnTo>
                <a:lnTo>
                  <a:pt x="203" y="477"/>
                </a:lnTo>
                <a:lnTo>
                  <a:pt x="198" y="476"/>
                </a:lnTo>
                <a:lnTo>
                  <a:pt x="192" y="475"/>
                </a:lnTo>
                <a:lnTo>
                  <a:pt x="186" y="474"/>
                </a:lnTo>
                <a:lnTo>
                  <a:pt x="180" y="472"/>
                </a:lnTo>
                <a:lnTo>
                  <a:pt x="174" y="471"/>
                </a:lnTo>
                <a:lnTo>
                  <a:pt x="169" y="469"/>
                </a:lnTo>
                <a:lnTo>
                  <a:pt x="163" y="467"/>
                </a:lnTo>
                <a:lnTo>
                  <a:pt x="158" y="465"/>
                </a:lnTo>
                <a:lnTo>
                  <a:pt x="152" y="463"/>
                </a:lnTo>
                <a:lnTo>
                  <a:pt x="147" y="461"/>
                </a:lnTo>
                <a:lnTo>
                  <a:pt x="141" y="459"/>
                </a:lnTo>
                <a:lnTo>
                  <a:pt x="136" y="456"/>
                </a:lnTo>
                <a:lnTo>
                  <a:pt x="131" y="454"/>
                </a:lnTo>
                <a:lnTo>
                  <a:pt x="126" y="451"/>
                </a:lnTo>
                <a:lnTo>
                  <a:pt x="121" y="448"/>
                </a:lnTo>
                <a:lnTo>
                  <a:pt x="116" y="445"/>
                </a:lnTo>
                <a:lnTo>
                  <a:pt x="111" y="442"/>
                </a:lnTo>
                <a:lnTo>
                  <a:pt x="106" y="439"/>
                </a:lnTo>
                <a:lnTo>
                  <a:pt x="101" y="436"/>
                </a:lnTo>
                <a:lnTo>
                  <a:pt x="96" y="432"/>
                </a:lnTo>
                <a:lnTo>
                  <a:pt x="92" y="429"/>
                </a:lnTo>
                <a:lnTo>
                  <a:pt x="87" y="425"/>
                </a:lnTo>
                <a:lnTo>
                  <a:pt x="83" y="421"/>
                </a:lnTo>
                <a:lnTo>
                  <a:pt x="79" y="418"/>
                </a:lnTo>
                <a:lnTo>
                  <a:pt x="74" y="414"/>
                </a:lnTo>
                <a:lnTo>
                  <a:pt x="70" y="410"/>
                </a:lnTo>
                <a:lnTo>
                  <a:pt x="66" y="406"/>
                </a:lnTo>
                <a:lnTo>
                  <a:pt x="62" y="401"/>
                </a:lnTo>
                <a:lnTo>
                  <a:pt x="59" y="397"/>
                </a:lnTo>
                <a:lnTo>
                  <a:pt x="55" y="393"/>
                </a:lnTo>
                <a:lnTo>
                  <a:pt x="51" y="388"/>
                </a:lnTo>
                <a:lnTo>
                  <a:pt x="48" y="384"/>
                </a:lnTo>
                <a:lnTo>
                  <a:pt x="44" y="379"/>
                </a:lnTo>
                <a:lnTo>
                  <a:pt x="41" y="374"/>
                </a:lnTo>
                <a:lnTo>
                  <a:pt x="38" y="369"/>
                </a:lnTo>
                <a:lnTo>
                  <a:pt x="35" y="364"/>
                </a:lnTo>
                <a:lnTo>
                  <a:pt x="32" y="359"/>
                </a:lnTo>
                <a:lnTo>
                  <a:pt x="29" y="354"/>
                </a:lnTo>
                <a:lnTo>
                  <a:pt x="26" y="349"/>
                </a:lnTo>
                <a:lnTo>
                  <a:pt x="24" y="344"/>
                </a:lnTo>
                <a:lnTo>
                  <a:pt x="21" y="339"/>
                </a:lnTo>
                <a:lnTo>
                  <a:pt x="19" y="333"/>
                </a:lnTo>
                <a:lnTo>
                  <a:pt x="17" y="328"/>
                </a:lnTo>
                <a:lnTo>
                  <a:pt x="15" y="322"/>
                </a:lnTo>
                <a:lnTo>
                  <a:pt x="13" y="317"/>
                </a:lnTo>
                <a:lnTo>
                  <a:pt x="11" y="311"/>
                </a:lnTo>
                <a:lnTo>
                  <a:pt x="9" y="306"/>
                </a:lnTo>
                <a:lnTo>
                  <a:pt x="8" y="300"/>
                </a:lnTo>
                <a:lnTo>
                  <a:pt x="6" y="294"/>
                </a:lnTo>
                <a:lnTo>
                  <a:pt x="5" y="288"/>
                </a:lnTo>
                <a:lnTo>
                  <a:pt x="4" y="282"/>
                </a:lnTo>
                <a:lnTo>
                  <a:pt x="3" y="277"/>
                </a:lnTo>
                <a:lnTo>
                  <a:pt x="2" y="271"/>
                </a:lnTo>
                <a:lnTo>
                  <a:pt x="1" y="265"/>
                </a:lnTo>
                <a:lnTo>
                  <a:pt x="1" y="258"/>
                </a:lnTo>
                <a:lnTo>
                  <a:pt x="0" y="252"/>
                </a:lnTo>
                <a:lnTo>
                  <a:pt x="0" y="246"/>
                </a:lnTo>
                <a:lnTo>
                  <a:pt x="0" y="240"/>
                </a:lnTo>
                <a:lnTo>
                  <a:pt x="0" y="234"/>
                </a:lnTo>
                <a:lnTo>
                  <a:pt x="0" y="228"/>
                </a:lnTo>
                <a:lnTo>
                  <a:pt x="1" y="222"/>
                </a:lnTo>
                <a:lnTo>
                  <a:pt x="1" y="215"/>
                </a:lnTo>
                <a:lnTo>
                  <a:pt x="2" y="209"/>
                </a:lnTo>
                <a:lnTo>
                  <a:pt x="3" y="203"/>
                </a:lnTo>
                <a:lnTo>
                  <a:pt x="4" y="198"/>
                </a:lnTo>
                <a:lnTo>
                  <a:pt x="5" y="192"/>
                </a:lnTo>
                <a:lnTo>
                  <a:pt x="6" y="186"/>
                </a:lnTo>
                <a:lnTo>
                  <a:pt x="8" y="180"/>
                </a:lnTo>
                <a:lnTo>
                  <a:pt x="9" y="174"/>
                </a:lnTo>
                <a:lnTo>
                  <a:pt x="11" y="169"/>
                </a:lnTo>
                <a:lnTo>
                  <a:pt x="13" y="163"/>
                </a:lnTo>
                <a:lnTo>
                  <a:pt x="15" y="158"/>
                </a:lnTo>
                <a:lnTo>
                  <a:pt x="17" y="152"/>
                </a:lnTo>
                <a:lnTo>
                  <a:pt x="19" y="147"/>
                </a:lnTo>
                <a:lnTo>
                  <a:pt x="21" y="141"/>
                </a:lnTo>
                <a:lnTo>
                  <a:pt x="24" y="136"/>
                </a:lnTo>
                <a:lnTo>
                  <a:pt x="26" y="131"/>
                </a:lnTo>
                <a:lnTo>
                  <a:pt x="29" y="126"/>
                </a:lnTo>
                <a:lnTo>
                  <a:pt x="32" y="121"/>
                </a:lnTo>
                <a:lnTo>
                  <a:pt x="32" y="120"/>
                </a:lnTo>
                <a:lnTo>
                  <a:pt x="400" y="12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"/>
          <p:cNvSpPr/>
          <p:nvPr/>
        </p:nvSpPr>
        <p:spPr>
          <a:xfrm>
            <a:off x="-571680" y="4381560"/>
            <a:ext cx="4000320" cy="4000320"/>
          </a:xfrm>
          <a:custGeom>
            <a:avLst/>
            <a:gdLst/>
            <a:ahLst/>
            <a:rect l="l" t="t" r="r" b="b"/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1" y="88"/>
                </a:lnTo>
                <a:lnTo>
                  <a:pt x="384" y="93"/>
                </a:lnTo>
                <a:lnTo>
                  <a:pt x="387" y="97"/>
                </a:lnTo>
                <a:lnTo>
                  <a:pt x="390" y="101"/>
                </a:lnTo>
                <a:lnTo>
                  <a:pt x="392" y="106"/>
                </a:lnTo>
                <a:lnTo>
                  <a:pt x="395" y="110"/>
                </a:lnTo>
                <a:lnTo>
                  <a:pt x="397" y="114"/>
                </a:lnTo>
                <a:lnTo>
                  <a:pt x="399" y="119"/>
                </a:lnTo>
                <a:lnTo>
                  <a:pt x="401" y="124"/>
                </a:lnTo>
                <a:lnTo>
                  <a:pt x="403" y="128"/>
                </a:lnTo>
                <a:lnTo>
                  <a:pt x="405" y="133"/>
                </a:lnTo>
                <a:lnTo>
                  <a:pt x="407" y="138"/>
                </a:lnTo>
                <a:lnTo>
                  <a:pt x="409" y="143"/>
                </a:lnTo>
                <a:lnTo>
                  <a:pt x="411" y="148"/>
                </a:lnTo>
                <a:lnTo>
                  <a:pt x="412" y="153"/>
                </a:lnTo>
                <a:lnTo>
                  <a:pt x="413" y="158"/>
                </a:lnTo>
                <a:lnTo>
                  <a:pt x="415" y="163"/>
                </a:lnTo>
                <a:lnTo>
                  <a:pt x="416" y="168"/>
                </a:lnTo>
                <a:lnTo>
                  <a:pt x="417" y="173"/>
                </a:lnTo>
                <a:lnTo>
                  <a:pt x="418" y="178"/>
                </a:lnTo>
                <a:lnTo>
                  <a:pt x="418" y="183"/>
                </a:lnTo>
                <a:lnTo>
                  <a:pt x="419" y="189"/>
                </a:lnTo>
                <a:lnTo>
                  <a:pt x="419" y="194"/>
                </a:lnTo>
                <a:lnTo>
                  <a:pt x="420" y="199"/>
                </a:lnTo>
                <a:lnTo>
                  <a:pt x="420" y="205"/>
                </a:lnTo>
                <a:lnTo>
                  <a:pt x="420" y="210"/>
                </a:lnTo>
                <a:lnTo>
                  <a:pt x="420" y="215"/>
                </a:lnTo>
                <a:lnTo>
                  <a:pt x="420" y="221"/>
                </a:lnTo>
                <a:lnTo>
                  <a:pt x="419" y="226"/>
                </a:lnTo>
                <a:lnTo>
                  <a:pt x="419" y="231"/>
                </a:lnTo>
                <a:lnTo>
                  <a:pt x="418" y="237"/>
                </a:lnTo>
                <a:lnTo>
                  <a:pt x="418" y="242"/>
                </a:lnTo>
                <a:lnTo>
                  <a:pt x="417" y="247"/>
                </a:lnTo>
                <a:lnTo>
                  <a:pt x="416" y="252"/>
                </a:lnTo>
                <a:lnTo>
                  <a:pt x="415" y="257"/>
                </a:lnTo>
                <a:lnTo>
                  <a:pt x="414" y="260"/>
                </a:lnTo>
                <a:lnTo>
                  <a:pt x="60" y="260"/>
                </a:lnTo>
                <a:lnTo>
                  <a:pt x="60" y="63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"/>
          <p:cNvSpPr/>
          <p:nvPr/>
        </p:nvSpPr>
        <p:spPr>
          <a:xfrm>
            <a:off x="10363320" y="1714680"/>
            <a:ext cx="114120" cy="114120"/>
          </a:xfrm>
          <a:custGeom>
            <a:avLst/>
            <a:gdLst/>
            <a:ahLst/>
            <a:rect l="l" t="t" r="r" b="b"/>
            <a:pathLst>
              <a:path w="12" h="12">
                <a:moveTo>
                  <a:pt x="6" y="0"/>
                </a:moveTo>
                <a:lnTo>
                  <a:pt x="6" y="0"/>
                </a:lnTo>
                <a:cubicBezTo>
                  <a:pt x="9" y="0"/>
                  <a:pt x="12" y="3"/>
                  <a:pt x="12" y="6"/>
                </a:cubicBezTo>
                <a:lnTo>
                  <a:pt x="12" y="6"/>
                </a:lnTo>
                <a:cubicBezTo>
                  <a:pt x="12" y="9"/>
                  <a:pt x="9" y="12"/>
                  <a:pt x="6" y="12"/>
                </a:cubicBezTo>
                <a:lnTo>
                  <a:pt x="6" y="12"/>
                </a:lnTo>
                <a:cubicBezTo>
                  <a:pt x="3" y="12"/>
                  <a:pt x="0" y="9"/>
                  <a:pt x="0" y="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"/>
          <p:cNvSpPr/>
          <p:nvPr/>
        </p:nvSpPr>
        <p:spPr>
          <a:xfrm>
            <a:off x="9067680" y="4000680"/>
            <a:ext cx="75960" cy="75960"/>
          </a:xfrm>
          <a:custGeom>
            <a:avLst/>
            <a:gdLst/>
            <a:ahLst/>
            <a:rect l="l" t="t" r="r" b="b"/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0960" rIns="90000" bIns="3096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"/>
          <p:cNvSpPr/>
          <p:nvPr/>
        </p:nvSpPr>
        <p:spPr>
          <a:xfrm>
            <a:off x="762120" y="1838160"/>
            <a:ext cx="418680" cy="418680"/>
          </a:xfrm>
          <a:prstGeom prst="roundRect">
            <a:avLst>
              <a:gd name="adj" fmla="val 27273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857160" y="19335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" descr="{&quot;isTemplate&quot;:true,&quot;type&quot;:&quot;text&quot;}"/>
          <p:cNvSpPr/>
          <p:nvPr/>
        </p:nvSpPr>
        <p:spPr>
          <a:xfrm>
            <a:off x="1295280" y="1933560"/>
            <a:ext cx="5514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Microsoft YaHei"/>
                <a:ea typeface="Microsoft YaHei"/>
              </a:rPr>
              <a:t>GOAI </a:t>
            </a:r>
            <a:r>
              <a:rPr lang="zh-CN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Microsoft YaHei"/>
                <a:ea typeface="Microsoft YaHei"/>
              </a:rPr>
              <a:t>世界人工智能开源大赛 </a:t>
            </a:r>
            <a:r>
              <a:rPr lang="en-US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Microsoft YaHei"/>
                <a:ea typeface="Microsoft YaHei"/>
              </a:rPr>
              <a:t>新智基座 </a:t>
            </a:r>
            <a:r>
              <a:rPr lang="en-US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Microsoft YaHei"/>
                <a:ea typeface="Microsoft YaHei"/>
              </a:rPr>
              <a:t>| Agent Infra </a:t>
            </a:r>
            <a:r>
              <a:rPr lang="zh-CN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Microsoft YaHei"/>
                <a:ea typeface="Microsoft YaHei"/>
              </a:rPr>
              <a:t>赛道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 descr="{&quot;isTemplate&quot;:true,&quot;type&quot;:&quot;text&quot;}"/>
          <p:cNvSpPr/>
          <p:nvPr/>
        </p:nvSpPr>
        <p:spPr>
          <a:xfrm>
            <a:off x="762120" y="2638440"/>
            <a:ext cx="10667520" cy="82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500" b="1" u="none" strike="noStrike" spc="74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ServiceDesk Pilot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 descr="{&quot;isTemplate&quot;:true,&quot;type&quot;:&quot;text&quot;}"/>
          <p:cNvSpPr/>
          <p:nvPr/>
        </p:nvSpPr>
        <p:spPr>
          <a:xfrm>
            <a:off x="762120" y="3543480"/>
            <a:ext cx="1066752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Microsoft YaHei"/>
                <a:ea typeface="Microsoft YaHei"/>
              </a:rPr>
              <a:t>中小企业</a:t>
            </a:r>
            <a:r>
              <a:rPr lang="en-US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Microsoft YaHei"/>
                <a:ea typeface="Microsoft YaHei"/>
              </a:rPr>
              <a:t>IT </a:t>
            </a:r>
            <a:r>
              <a:rPr lang="zh-CN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Microsoft YaHei"/>
                <a:ea typeface="Microsoft YaHei"/>
              </a:rPr>
              <a:t>服务台多 </a:t>
            </a:r>
            <a:r>
              <a:rPr lang="en-US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Microsoft YaHei"/>
                <a:ea typeface="Microsoft YaHei"/>
              </a:rPr>
              <a:t>智能处置系统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762120" y="4352760"/>
            <a:ext cx="114264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" descr="{&quot;isTemplate&quot;:true,&quot;type&quot;:&quot;text&quot;}"/>
          <p:cNvSpPr/>
          <p:nvPr/>
        </p:nvSpPr>
        <p:spPr>
          <a:xfrm>
            <a:off x="762120" y="4619520"/>
            <a:ext cx="106675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60000"/>
              </a:lnSpc>
            </a:pP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基于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AgentTeams ·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面向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20~500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人无专职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IT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中小企业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从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IM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群报到智能处置闭环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 descr="{&quot;isTemplate&quot;:true,&quot;type&quot;:&quot;text&quot;}"/>
          <p:cNvSpPr/>
          <p:nvPr/>
        </p:nvSpPr>
        <p:spPr>
          <a:xfrm>
            <a:off x="762120" y="6210360"/>
            <a:ext cx="20476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Microsoft YaHei"/>
                <a:ea typeface="Microsoft YaHei"/>
              </a:rPr>
              <a:t>初赛方案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V2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Microsoft YaHei"/>
                <a:ea typeface="Microsoft YaHei"/>
              </a:rPr>
              <a:t>赛题格式完整版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 descr="{&quot;isTemplate&quot;:true,&quot;type&quot;:&quot;text&quot;}"/>
          <p:cNvSpPr/>
          <p:nvPr/>
        </p:nvSpPr>
        <p:spPr>
          <a:xfrm>
            <a:off x="7800840" y="6210360"/>
            <a:ext cx="9903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Microsoft YaHei"/>
                <a:ea typeface="Microsoft YaHei"/>
              </a:rPr>
              <a:t>多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Microsoft YaHei"/>
                <a:ea typeface="Microsoft YaHei"/>
              </a:rPr>
              <a:t>协同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 descr="{&quot;isTemplate&quot;:true,&quot;type&quot;:&quot;text&quot;}"/>
          <p:cNvSpPr/>
          <p:nvPr/>
        </p:nvSpPr>
        <p:spPr>
          <a:xfrm>
            <a:off x="9020160" y="6210360"/>
            <a:ext cx="799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Microsoft YaHei"/>
                <a:ea typeface="Microsoft YaHei"/>
              </a:rPr>
              <a:t>Skill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Microsoft YaHei"/>
                <a:ea typeface="Microsoft YaHei"/>
              </a:rPr>
              <a:t>工程化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 descr="{&quot;isTemplate&quot;:true,&quot;type&quot;:&quot;text&quot;}"/>
          <p:cNvSpPr/>
          <p:nvPr/>
        </p:nvSpPr>
        <p:spPr>
          <a:xfrm>
            <a:off x="10049040" y="6210360"/>
            <a:ext cx="1380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Microsoft YaHei"/>
                <a:ea typeface="Microsoft YaHei"/>
              </a:rPr>
              <a:t>MCP · RAG ·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Microsoft YaHei"/>
                <a:ea typeface="Microsoft YaHei"/>
              </a:rPr>
              <a:t>可观测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4" name="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15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" descr="{&quot;isTemplate&quot;:true,&quot;type&quot;:&quot;text&quot;}"/>
          <p:cNvSpPr/>
          <p:nvPr/>
        </p:nvSpPr>
        <p:spPr>
          <a:xfrm>
            <a:off x="1238400" y="343080"/>
            <a:ext cx="36288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P0 ·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一页纸速览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 descr="{&quot;isTemplate&quot;:true,&quot;type&quot;:&quot;text&quot;}"/>
          <p:cNvSpPr/>
          <p:nvPr/>
        </p:nvSpPr>
        <p:spPr>
          <a:xfrm>
            <a:off x="1238400" y="809640"/>
            <a:ext cx="3628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作品简介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 — 项目名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问题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方案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创新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价值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进展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02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609480" y="1143000"/>
            <a:ext cx="3152520" cy="1657080"/>
          </a:xfrm>
          <a:prstGeom prst="roundRect">
            <a:avLst>
              <a:gd name="adj" fmla="val 6897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20" name=""/>
          <p:cNvPicPr/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/>
        </p:blipFill>
        <p:spPr>
          <a:xfrm>
            <a:off x="781200" y="132408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" descr="{&quot;isTemplate&quot;:true,&quot;type&quot;:&quot;text&quot;}"/>
          <p:cNvSpPr/>
          <p:nvPr/>
        </p:nvSpPr>
        <p:spPr>
          <a:xfrm>
            <a:off x="1047600" y="131436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项目名称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 descr="{&quot;isTemplate&quot;:true,&quot;type&quot;:&quot;text&quot;}"/>
          <p:cNvSpPr/>
          <p:nvPr/>
        </p:nvSpPr>
        <p:spPr>
          <a:xfrm>
            <a:off x="781200" y="1600200"/>
            <a:ext cx="280944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ServiceDesk Pilot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：中小企业 </a:t>
            </a: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IT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服务台多 </a:t>
            </a: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智能处置系统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3914640" y="1143000"/>
            <a:ext cx="3142800" cy="1657080"/>
          </a:xfrm>
          <a:prstGeom prst="roundRect">
            <a:avLst>
              <a:gd name="adj" fmla="val 6897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24" name=""/>
          <p:cNvPicPr/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/>
        </p:blipFill>
        <p:spPr>
          <a:xfrm>
            <a:off x="4086360" y="132408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" descr="{&quot;isTemplate&quot;:true,&quot;type&quot;:&quot;text&quot;}"/>
          <p:cNvSpPr/>
          <p:nvPr/>
        </p:nvSpPr>
        <p:spPr>
          <a:xfrm>
            <a:off x="4352760" y="131436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Microsoft YaHei"/>
                <a:ea typeface="Microsoft YaHei"/>
              </a:rPr>
              <a:t>目标用户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 descr="{&quot;isTemplate&quot;:true,&quot;type&quot;:&quot;text&quot;}"/>
          <p:cNvSpPr/>
          <p:nvPr/>
        </p:nvSpPr>
        <p:spPr>
          <a:xfrm>
            <a:off x="4086360" y="1600200"/>
            <a:ext cx="2800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20~500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人中小企业，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1~2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人兼任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IT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，靠企业微信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/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飞书群报障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609480" y="2952720"/>
            <a:ext cx="6447960" cy="1266480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28" name=""/>
          <p:cNvPicPr/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/>
        </p:blipFill>
        <p:spPr>
          <a:xfrm>
            <a:off x="781200" y="313380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" descr="{&quot;isTemplate&quot;:true,&quot;type&quot;:&quot;text&quot;}"/>
          <p:cNvSpPr/>
          <p:nvPr/>
        </p:nvSpPr>
        <p:spPr>
          <a:xfrm>
            <a:off x="1047600" y="3124080"/>
            <a:ext cx="856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问题与场景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 descr="{&quot;isTemplate&quot;:true,&quot;type&quot;:&quot;text&quot;}"/>
          <p:cNvSpPr/>
          <p:nvPr/>
        </p:nvSpPr>
        <p:spPr>
          <a:xfrm>
            <a:off x="781200" y="3409920"/>
            <a:ext cx="610524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权限数据分散在老系统且多无开放接口；专家经验锁在人员记忆中；报障入口只有微信群，无服务台化闭环。账户异常是占比最高的高频场景，先收敛做透。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609480" y="4371840"/>
            <a:ext cx="6447960" cy="1590480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32" name=""/>
          <p:cNvPicPr/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/>
        </p:blipFill>
        <p:spPr>
          <a:xfrm>
            <a:off x="781200" y="455292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" descr="{&quot;isTemplate&quot;:true,&quot;type&quot;:&quot;text&quot;}"/>
          <p:cNvSpPr/>
          <p:nvPr/>
        </p:nvSpPr>
        <p:spPr>
          <a:xfrm>
            <a:off x="1047600" y="4543560"/>
            <a:ext cx="1028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核心解决方案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 descr="{&quot;isTemplate&quot;:true,&quot;type&quot;:&quot;text&quot;}"/>
          <p:cNvSpPr/>
          <p:nvPr/>
        </p:nvSpPr>
        <p:spPr>
          <a:xfrm>
            <a:off x="781200" y="4829040"/>
            <a:ext cx="6105240" cy="96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基于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AgentTeams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构建「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IM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入口 → 分诊 → 知识检索 → 风险分级 → 低风险自动执行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无接口老系统人工留证 → 验证与回流」最小闭环；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Skill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管业务逻辑，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MCP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管系统接入，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RAG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管专家经验。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7286760" y="1143000"/>
            <a:ext cx="4295520" cy="2085480"/>
          </a:xfrm>
          <a:prstGeom prst="roundRect">
            <a:avLst>
              <a:gd name="adj" fmla="val 5479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36" name=""/>
          <p:cNvPicPr/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/>
        </p:blipFill>
        <p:spPr>
          <a:xfrm>
            <a:off x="7458120" y="132408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" descr="{&quot;isTemplate&quot;:true,&quot;type&quot;:&quot;text&quot;}"/>
          <p:cNvSpPr/>
          <p:nvPr/>
        </p:nvSpPr>
        <p:spPr>
          <a:xfrm>
            <a:off x="7724880" y="1314360"/>
            <a:ext cx="1199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创新点与差异化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 descr="{&quot;isTemplate&quot;:true,&quot;type&quot;:&quot;text&quot;}"/>
          <p:cNvSpPr/>
          <p:nvPr/>
        </p:nvSpPr>
        <p:spPr>
          <a:xfrm>
            <a:off x="7458120" y="1600200"/>
            <a:ext cx="3952440" cy="14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以账户异常为主线而非泛 </a:t>
            </a: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ITSM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，场景聚焦可落地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显式设计「无接口老系统」人工执行留证过渡路径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微信群消息标准化为可审计服务台事件流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L0-L3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风险分层：低风险自动、中风险审批、高风险人工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7286760" y="3381480"/>
            <a:ext cx="4295520" cy="121896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40" name=""/>
          <p:cNvPicPr/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/>
        </p:blipFill>
        <p:spPr>
          <a:xfrm>
            <a:off x="7458120" y="356220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" descr="{&quot;isTemplate&quot;:true,&quot;type&quot;:&quot;text&quot;}"/>
          <p:cNvSpPr/>
          <p:nvPr/>
        </p:nvSpPr>
        <p:spPr>
          <a:xfrm>
            <a:off x="7724880" y="3552840"/>
            <a:ext cx="12189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开放</a:t>
            </a:r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复用价值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 descr="{&quot;isTemplate&quot;:true,&quot;type&quot;:&quot;text&quot;}"/>
          <p:cNvSpPr/>
          <p:nvPr/>
        </p:nvSpPr>
        <p:spPr>
          <a:xfrm>
            <a:off x="7458120" y="3838680"/>
            <a:ext cx="395244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9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个跨场景通用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Skill +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统一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MCP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契约，可迁移到客服、售后、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HR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、行政等入口型场景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7286760" y="4753080"/>
            <a:ext cx="4295520" cy="150444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44" name=""/>
          <p:cNvPicPr/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/>
        </p:blipFill>
        <p:spPr>
          <a:xfrm>
            <a:off x="7458120" y="493380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" descr="{&quot;isTemplate&quot;:true,&quot;type&quot;:&quot;text&quot;}"/>
          <p:cNvSpPr/>
          <p:nvPr/>
        </p:nvSpPr>
        <p:spPr>
          <a:xfrm>
            <a:off x="7724880" y="492444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当前进展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 descr="{&quot;isTemplate&quot;:true,&quot;type&quot;:&quot;text&quot;}"/>
          <p:cNvSpPr/>
          <p:nvPr/>
        </p:nvSpPr>
        <p:spPr>
          <a:xfrm>
            <a:off x="7458120" y="5210280"/>
            <a:ext cx="395244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V2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赛题格式完整版：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6 Agent Identity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清单、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13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个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Skill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完整契约、合规披露完成；下一步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Mock Demo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运行证据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02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" name="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52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" descr="{&quot;isTemplate&quot;:true,&quot;type&quot;:&quot;text&quot;}"/>
          <p:cNvSpPr/>
          <p:nvPr/>
        </p:nvSpPr>
        <p:spPr>
          <a:xfrm>
            <a:off x="1238400" y="343080"/>
            <a:ext cx="8186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目录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 descr="{&quot;isTemplate&quot;:true,&quot;type&quot;:&quot;text&quot;}"/>
          <p:cNvSpPr/>
          <p:nvPr/>
        </p:nvSpPr>
        <p:spPr>
          <a:xfrm>
            <a:off x="1238400" y="809640"/>
            <a:ext cx="818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CONTENTS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03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609480" y="184788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" name="" descr="{&quot;isTemplate&quot;:true,&quot;type&quot;:&quot;text&quot;}"/>
          <p:cNvSpPr/>
          <p:nvPr/>
        </p:nvSpPr>
        <p:spPr>
          <a:xfrm>
            <a:off x="781200" y="207648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01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" name=""/>
          <p:cNvPicPr/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/>
        </p:blipFill>
        <p:spPr>
          <a:xfrm>
            <a:off x="1486080" y="212400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" descr="{&quot;isTemplate&quot;:true,&quot;type&quot;:&quot;text&quot;}"/>
          <p:cNvSpPr/>
          <p:nvPr/>
        </p:nvSpPr>
        <p:spPr>
          <a:xfrm>
            <a:off x="1905120" y="1981080"/>
            <a:ext cx="13806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场景与价值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 descr="{&quot;isTemplate&quot;:true,&quot;type&quot;:&quot;text&quot;}"/>
          <p:cNvSpPr/>
          <p:nvPr/>
        </p:nvSpPr>
        <p:spPr>
          <a:xfrm>
            <a:off x="1905120" y="2333520"/>
            <a:ext cx="13806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痛点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价值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可复制性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609480" y="282888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06B6D4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" name="" descr="{&quot;isTemplate&quot;:true,&quot;type&quot;:&quot;text&quot;}"/>
          <p:cNvSpPr/>
          <p:nvPr/>
        </p:nvSpPr>
        <p:spPr>
          <a:xfrm>
            <a:off x="781200" y="305748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02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3" name=""/>
          <p:cNvPicPr/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/>
        </p:blipFill>
        <p:spPr>
          <a:xfrm>
            <a:off x="1486080" y="310500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" descr="{&quot;isTemplate&quot;:true,&quot;type&quot;:&quot;text&quot;}"/>
          <p:cNvSpPr/>
          <p:nvPr/>
        </p:nvSpPr>
        <p:spPr>
          <a:xfrm>
            <a:off x="1905120" y="2962440"/>
            <a:ext cx="14094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方案总览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 descr="{&quot;isTemplate&quot;:true,&quot;type&quot;:&quot;text&quot;}"/>
          <p:cNvSpPr/>
          <p:nvPr/>
        </p:nvSpPr>
        <p:spPr>
          <a:xfrm>
            <a:off x="1905120" y="3314880"/>
            <a:ext cx="14094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五层架构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端到端闭环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609480" y="380988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7" name="" descr="{&quot;isTemplate&quot;:true,&quot;type&quot;:&quot;text&quot;}"/>
          <p:cNvSpPr/>
          <p:nvPr/>
        </p:nvSpPr>
        <p:spPr>
          <a:xfrm>
            <a:off x="781200" y="403848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03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8" name=""/>
          <p:cNvPicPr/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/>
        </p:blipFill>
        <p:spPr>
          <a:xfrm>
            <a:off x="1486080" y="408636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" descr="{&quot;isTemplate&quot;:true,&quot;type&quot;:&quot;text&quot;}"/>
          <p:cNvSpPr/>
          <p:nvPr/>
        </p:nvSpPr>
        <p:spPr>
          <a:xfrm>
            <a:off x="1905120" y="3943440"/>
            <a:ext cx="18190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多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协同设计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 descr="{&quot;isTemplate&quot;:true,&quot;type&quot;:&quot;text&quot;}"/>
          <p:cNvSpPr/>
          <p:nvPr/>
        </p:nvSpPr>
        <p:spPr>
          <a:xfrm>
            <a:off x="1905120" y="4295880"/>
            <a:ext cx="18190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6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角色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任务拆解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上下文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609480" y="479124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06B6D4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2" name="" descr="{&quot;isTemplate&quot;:true,&quot;type&quot;:&quot;text&quot;}"/>
          <p:cNvSpPr/>
          <p:nvPr/>
        </p:nvSpPr>
        <p:spPr>
          <a:xfrm>
            <a:off x="781200" y="501984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04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3" name=""/>
          <p:cNvPicPr/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/>
        </p:blipFill>
        <p:spPr>
          <a:xfrm>
            <a:off x="1486080" y="506736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" descr="{&quot;isTemplate&quot;:true,&quot;type&quot;:&quot;text&quot;}"/>
          <p:cNvSpPr/>
          <p:nvPr/>
        </p:nvSpPr>
        <p:spPr>
          <a:xfrm>
            <a:off x="1905120" y="4924440"/>
            <a:ext cx="17143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Skill </a:t>
            </a: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工程体系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 descr="{&quot;isTemplate&quot;:true,&quot;type&quot;:&quot;text&quot;}"/>
          <p:cNvSpPr/>
          <p:nvPr/>
        </p:nvSpPr>
        <p:spPr>
          <a:xfrm>
            <a:off x="1905120" y="5276880"/>
            <a:ext cx="17143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13 Skill · 9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通用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契约规范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6286680" y="174312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7" name="" descr="{&quot;isTemplate&quot;:true,&quot;type&quot;:&quot;text&quot;}"/>
          <p:cNvSpPr/>
          <p:nvPr/>
        </p:nvSpPr>
        <p:spPr>
          <a:xfrm>
            <a:off x="6458040" y="197172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05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"/>
          <p:cNvPicPr/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/>
        </p:blipFill>
        <p:spPr>
          <a:xfrm>
            <a:off x="7162920" y="201924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" descr="{&quot;isTemplate&quot;:true,&quot;type&quot;:&quot;text&quot;}"/>
          <p:cNvSpPr/>
          <p:nvPr/>
        </p:nvSpPr>
        <p:spPr>
          <a:xfrm>
            <a:off x="7581960" y="1876320"/>
            <a:ext cx="2095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工程落地与安全可审计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 descr="{&quot;isTemplate&quot;:true,&quot;type&quot;:&quot;text&quot;}"/>
          <p:cNvSpPr/>
          <p:nvPr/>
        </p:nvSpPr>
        <p:spPr>
          <a:xfrm>
            <a:off x="7581960" y="2228760"/>
            <a:ext cx="20952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Mock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闭环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证据链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L0-L3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6286680" y="272412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06B6D4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2" name="" descr="{&quot;isTemplate&quot;:true,&quot;type&quot;:&quot;text&quot;}"/>
          <p:cNvSpPr/>
          <p:nvPr/>
        </p:nvSpPr>
        <p:spPr>
          <a:xfrm>
            <a:off x="6458040" y="295272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06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"/>
          <p:cNvPicPr/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/>
        </p:blipFill>
        <p:spPr>
          <a:xfrm>
            <a:off x="7162920" y="300024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" descr="{&quot;isTemplate&quot;:true,&quot;type&quot;:&quot;text&quot;}"/>
          <p:cNvSpPr/>
          <p:nvPr/>
        </p:nvSpPr>
        <p:spPr>
          <a:xfrm>
            <a:off x="7581960" y="2857680"/>
            <a:ext cx="1485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开放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开源计划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 descr="{&quot;isTemplate&quot;:true,&quot;type&quot;:&quot;text&quot;}"/>
          <p:cNvSpPr/>
          <p:nvPr/>
        </p:nvSpPr>
        <p:spPr>
          <a:xfrm>
            <a:off x="7581960" y="3209760"/>
            <a:ext cx="14857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可复用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Skill 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协议合规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6286680" y="370512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7" name="" descr="{&quot;isTemplate&quot;:true,&quot;type&quot;:&quot;text&quot;}"/>
          <p:cNvSpPr/>
          <p:nvPr/>
        </p:nvSpPr>
        <p:spPr>
          <a:xfrm>
            <a:off x="6458040" y="393372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07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8" name=""/>
          <p:cNvPicPr/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/>
        </p:blipFill>
        <p:spPr>
          <a:xfrm>
            <a:off x="7162920" y="398160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" descr="{&quot;isTemplate&quot;:true,&quot;type&quot;:&quot;text&quot;}"/>
          <p:cNvSpPr/>
          <p:nvPr/>
        </p:nvSpPr>
        <p:spPr>
          <a:xfrm>
            <a:off x="7581960" y="3838680"/>
            <a:ext cx="15235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落地计划与进展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 descr="{&quot;isTemplate&quot;:true,&quot;type&quot;:&quot;text&quot;}"/>
          <p:cNvSpPr/>
          <p:nvPr/>
        </p:nvSpPr>
        <p:spPr>
          <a:xfrm>
            <a:off x="7581960" y="4191120"/>
            <a:ext cx="15235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V2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现状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V3/V4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路线图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6286680" y="4781520"/>
            <a:ext cx="5295600" cy="914040"/>
          </a:xfrm>
          <a:prstGeom prst="roundRect">
            <a:avLst>
              <a:gd name="adj" fmla="val 12500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2" name="" descr="{&quot;isTemplate&quot;:true,&quot;type&quot;:&quot;text&quot;}"/>
          <p:cNvSpPr/>
          <p:nvPr/>
        </p:nvSpPr>
        <p:spPr>
          <a:xfrm>
            <a:off x="6458040" y="4933800"/>
            <a:ext cx="4952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4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章节对应赛题评审维度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 descr="{&quot;isTemplate&quot;:true,&quot;type&quot;:&quot;text&quot;}"/>
          <p:cNvSpPr/>
          <p:nvPr/>
        </p:nvSpPr>
        <p:spPr>
          <a:xfrm>
            <a:off x="6458040" y="5286240"/>
            <a:ext cx="49525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场景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25% · </a:t>
            </a: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协同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25% · Skill 25% · </a:t>
            </a: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工程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20% · </a:t>
            </a: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开源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5%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03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2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8" name="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9" name="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0" name="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01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Microsoft YaHei"/>
                <a:ea typeface="Microsoft YaHei"/>
              </a:rPr>
              <a:t>第一章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场景与价值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Microsoft YaHei"/>
                <a:ea typeface="Microsoft YaHei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 descr="{&quot;isTemplate&quot;:true,&quot;type&quot;:&quot;text&quot;}"/>
          <p:cNvSpPr/>
          <p:nvPr/>
        </p:nvSpPr>
        <p:spPr>
          <a:xfrm>
            <a:off x="2695680" y="3371760"/>
            <a:ext cx="251424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场景价值与行业可复制性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7" name="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目标用户与核心痛点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真实场景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可量化价值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行业可复制性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差异化优势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04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3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1" name="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12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" descr="{&quot;isTemplate&quot;:true,&quot;type&quot;:&quot;text&quot;}"/>
          <p:cNvSpPr/>
          <p:nvPr/>
        </p:nvSpPr>
        <p:spPr>
          <a:xfrm>
            <a:off x="1238400" y="343080"/>
            <a:ext cx="50479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场景与价值：中小企业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IT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服务台之困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 descr="{&quot;isTemplate&quot;:true,&quot;type&quot;:&quot;text&quot;}"/>
          <p:cNvSpPr/>
          <p:nvPr/>
        </p:nvSpPr>
        <p:spPr>
          <a:xfrm>
            <a:off x="1238400" y="809640"/>
            <a:ext cx="504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第一章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场景与价值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05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609480" y="1143000"/>
            <a:ext cx="7162560" cy="5171760"/>
          </a:xfrm>
          <a:prstGeom prst="roundRect">
            <a:avLst>
              <a:gd name="adj" fmla="val 2210"/>
            </a:avLst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17" name=""/>
          <p:cNvPicPr/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/>
        </p:blipFill>
        <p:spPr>
          <a:xfrm>
            <a:off x="704880" y="1238400"/>
            <a:ext cx="6972120" cy="498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"/>
          <p:cNvSpPr/>
          <p:nvPr/>
        </p:nvSpPr>
        <p:spPr>
          <a:xfrm>
            <a:off x="8001000" y="1143000"/>
            <a:ext cx="3580920" cy="980640"/>
          </a:xfrm>
          <a:prstGeom prst="roundRect">
            <a:avLst>
              <a:gd name="adj" fmla="val 9709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9" name="" descr="{&quot;isTemplate&quot;:true,&quot;type&quot;:&quot;text&quot;}"/>
          <p:cNvSpPr/>
          <p:nvPr/>
        </p:nvSpPr>
        <p:spPr>
          <a:xfrm>
            <a:off x="8115480" y="125748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目标用户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 descr="{&quot;isTemplate&quot;:true,&quot;type&quot;:&quot;text&quot;}"/>
          <p:cNvSpPr/>
          <p:nvPr/>
        </p:nvSpPr>
        <p:spPr>
          <a:xfrm>
            <a:off x="8115480" y="1495440"/>
            <a:ext cx="33523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20~500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人中小企业，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1~2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人兼任 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IT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，以企业微信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飞书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钉钉群为主要报障入口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8001000" y="2219400"/>
            <a:ext cx="3580920" cy="980640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2" name="" descr="{&quot;isTemplate&quot;:true,&quot;type&quot;:&quot;text&quot;}"/>
          <p:cNvSpPr/>
          <p:nvPr/>
        </p:nvSpPr>
        <p:spPr>
          <a:xfrm>
            <a:off x="8115480" y="233352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核心场景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 descr="{&quot;isTemplate&quot;:true,&quot;type&quot;:&quot;text&quot;}"/>
          <p:cNvSpPr/>
          <p:nvPr/>
        </p:nvSpPr>
        <p:spPr>
          <a:xfrm>
            <a:off x="8115480" y="2571840"/>
            <a:ext cx="33523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50000"/>
              </a:lnSpc>
            </a:pP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账户与访问异常：账号锁定、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MFA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丢失、密码错误、异地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新设备登录、疑似盗号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8001000" y="3295800"/>
            <a:ext cx="3580920" cy="1238040"/>
          </a:xfrm>
          <a:prstGeom prst="roundRect">
            <a:avLst>
              <a:gd name="adj" fmla="val 7692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5" name="" descr="{&quot;isTemplate&quot;:true,&quot;type&quot;:&quot;text&quot;}"/>
          <p:cNvSpPr/>
          <p:nvPr/>
        </p:nvSpPr>
        <p:spPr>
          <a:xfrm>
            <a:off x="8115480" y="340992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业务价值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 descr="{&quot;isTemplate&quot;:true,&quot;type&quot;:&quot;text&quot;}"/>
          <p:cNvSpPr/>
          <p:nvPr/>
        </p:nvSpPr>
        <p:spPr>
          <a:xfrm>
            <a:off x="8115480" y="3648240"/>
            <a:ext cx="33523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7x24 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自动接管常见账户异常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拦截高频重复请求，释放兼职 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IT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从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"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个人救火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"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走向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"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可追溯、可复盘体系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8001000" y="4629240"/>
            <a:ext cx="3580920" cy="980640"/>
          </a:xfrm>
          <a:prstGeom prst="roundRect">
            <a:avLst>
              <a:gd name="adj" fmla="val 9709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8" name="" descr="{&quot;isTemplate&quot;:true,&quot;type&quot;:&quot;text&quot;}"/>
          <p:cNvSpPr/>
          <p:nvPr/>
        </p:nvSpPr>
        <p:spPr>
          <a:xfrm>
            <a:off x="8115480" y="474336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0891B2"/>
                </a:solidFill>
                <a:effectLst/>
                <a:uFillTx/>
                <a:latin typeface="Microsoft YaHei"/>
                <a:ea typeface="Microsoft YaHei"/>
              </a:rPr>
              <a:t>行业可复制性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 descr="{&quot;isTemplate&quot;:true,&quot;type&quot;:&quot;text&quot;}"/>
          <p:cNvSpPr/>
          <p:nvPr/>
        </p:nvSpPr>
        <p:spPr>
          <a:xfrm>
            <a:off x="8115480" y="4981680"/>
            <a:ext cx="33523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50000"/>
              </a:lnSpc>
            </a:pP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账户异常是种子场景；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9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个通用 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Skill +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统一 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MCP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契约可复制到客服、售后、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HR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、行政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05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3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4" name="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5" name="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6" name="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37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Microsoft YaHei"/>
                <a:ea typeface="Microsoft YaHei"/>
              </a:rPr>
              <a:t>第二章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方案总览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Microsoft YaHei"/>
                <a:ea typeface="Microsoft YaHei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 descr="{&quot;isTemplate&quot;:true,&quot;type&quot;:&quot;text&quot;}"/>
          <p:cNvSpPr/>
          <p:nvPr/>
        </p:nvSpPr>
        <p:spPr>
          <a:xfrm>
            <a:off x="2695680" y="3371760"/>
            <a:ext cx="312372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多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协同与自主闭环能力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3" name="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整体架构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端到端主流程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关键技术选型必要性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06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3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7" name="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48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" descr="{&quot;isTemplate&quot;:true,&quot;type&quot;:&quot;text&quot;}"/>
          <p:cNvSpPr/>
          <p:nvPr/>
        </p:nvSpPr>
        <p:spPr>
          <a:xfrm>
            <a:off x="1238400" y="343080"/>
            <a:ext cx="45716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方案总览：五层架构与端到端闭环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 descr="{&quot;isTemplate&quot;:true,&quot;type&quot;:&quot;text&quot;}"/>
          <p:cNvSpPr/>
          <p:nvPr/>
        </p:nvSpPr>
        <p:spPr>
          <a:xfrm>
            <a:off x="1238400" y="809640"/>
            <a:ext cx="4571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第二章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方案总览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07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609480" y="114300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3" name=""/>
          <p:cNvSpPr/>
          <p:nvPr/>
        </p:nvSpPr>
        <p:spPr>
          <a:xfrm>
            <a:off x="800280" y="123840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FFFFFF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4" name="" descr="{&quot;isTemplate&quot;:true,&quot;type&quot;:&quot;text&quot;}"/>
          <p:cNvSpPr/>
          <p:nvPr/>
        </p:nvSpPr>
        <p:spPr>
          <a:xfrm>
            <a:off x="1076400" y="132408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用户入口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 descr="{&quot;isTemplate&quot;:true,&quot;type&quot;:&quot;text&quot;}"/>
          <p:cNvSpPr/>
          <p:nvPr/>
        </p:nvSpPr>
        <p:spPr>
          <a:xfrm>
            <a:off x="2190600" y="1257480"/>
            <a:ext cx="45810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企业微信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飞书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钉钉群 ——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IM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群消息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截图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报障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609480" y="180972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7" name=""/>
          <p:cNvSpPr/>
          <p:nvPr/>
        </p:nvSpPr>
        <p:spPr>
          <a:xfrm>
            <a:off x="800280" y="190512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8" name="" descr="{&quot;isTemplate&quot;:true,&quot;type&quot;:&quot;text&quot;}"/>
          <p:cNvSpPr/>
          <p:nvPr/>
        </p:nvSpPr>
        <p:spPr>
          <a:xfrm>
            <a:off x="1162080" y="199080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底座层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 descr="{&quot;isTemplate&quot;:true,&quot;type&quot;:&quot;text&quot;}"/>
          <p:cNvSpPr/>
          <p:nvPr/>
        </p:nvSpPr>
        <p:spPr>
          <a:xfrm>
            <a:off x="2190600" y="1924200"/>
            <a:ext cx="81054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AgentTeams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（角色编排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任务拆解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上下文传递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状态追踪）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+ Matrix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通信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+ Higress AI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网关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609480" y="247644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1" name=""/>
          <p:cNvSpPr/>
          <p:nvPr/>
        </p:nvSpPr>
        <p:spPr>
          <a:xfrm>
            <a:off x="800280" y="257184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2" name="" descr="{&quot;isTemplate&quot;:true,&quot;type&quot;:&quot;text&quot;}"/>
          <p:cNvSpPr/>
          <p:nvPr/>
        </p:nvSpPr>
        <p:spPr>
          <a:xfrm>
            <a:off x="1162080" y="265752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编排层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 descr="{&quot;isTemplate&quot;:true,&quot;type&quot;:&quot;text&quot;}"/>
          <p:cNvSpPr/>
          <p:nvPr/>
        </p:nvSpPr>
        <p:spPr>
          <a:xfrm>
            <a:off x="2190600" y="2590920"/>
            <a:ext cx="71337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TeamLeader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：任务拆解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角色编排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状态流转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升级策略（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AgentTeams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协同基点）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609480" y="314316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5" name=""/>
          <p:cNvSpPr/>
          <p:nvPr/>
        </p:nvSpPr>
        <p:spPr>
          <a:xfrm>
            <a:off x="800280" y="323856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6" name="" descr="{&quot;isTemplate&quot;:true,&quot;type&quot;:&quot;text&quot;}"/>
          <p:cNvSpPr/>
          <p:nvPr/>
        </p:nvSpPr>
        <p:spPr>
          <a:xfrm>
            <a:off x="1162080" y="332424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接入层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 descr="{&quot;isTemplate&quot;:true,&quot;type&quot;:&quot;text&quot;}"/>
          <p:cNvSpPr/>
          <p:nvPr/>
        </p:nvSpPr>
        <p:spPr>
          <a:xfrm>
            <a:off x="2190600" y="3257640"/>
            <a:ext cx="84387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统一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MCP / Adapter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：有接口系统直连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无接口老系统走人工执行留证（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Runbook +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截图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+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回填）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609480" y="380988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9" name=""/>
          <p:cNvSpPr/>
          <p:nvPr/>
        </p:nvSpPr>
        <p:spPr>
          <a:xfrm>
            <a:off x="800280" y="390528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0" name="" descr="{&quot;isTemplate&quot;:true,&quot;type&quot;:&quot;text&quot;}"/>
          <p:cNvSpPr/>
          <p:nvPr/>
        </p:nvSpPr>
        <p:spPr>
          <a:xfrm>
            <a:off x="1162080" y="399096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能力层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 descr="{&quot;isTemplate&quot;:true,&quot;type&quot;:&quot;text&quot;}"/>
          <p:cNvSpPr/>
          <p:nvPr/>
        </p:nvSpPr>
        <p:spPr>
          <a:xfrm>
            <a:off x="2181240" y="3924360"/>
            <a:ext cx="9210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官方用云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Skills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（身份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通知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审批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文件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搜索）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+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自定义服务台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Skills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（分类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风险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处置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验证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回流）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609480" y="447660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3" name=""/>
          <p:cNvSpPr/>
          <p:nvPr/>
        </p:nvSpPr>
        <p:spPr>
          <a:xfrm>
            <a:off x="800280" y="457200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4" name="" descr="{&quot;isTemplate&quot;:true,&quot;type&quot;:&quot;text&quot;}"/>
          <p:cNvSpPr/>
          <p:nvPr/>
        </p:nvSpPr>
        <p:spPr>
          <a:xfrm>
            <a:off x="1162080" y="465768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数据层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 descr="{&quot;isTemplate&quot;:true,&quot;type&quot;:&quot;text&quot;}"/>
          <p:cNvSpPr/>
          <p:nvPr/>
        </p:nvSpPr>
        <p:spPr>
          <a:xfrm>
            <a:off x="2190600" y="4591080"/>
            <a:ext cx="5619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RAG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专家经验库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· RocketMQ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异步状态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· PolarDB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向量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Microsoft YaHei"/>
                <a:ea typeface="Microsoft YaHei"/>
              </a:rPr>
              <a:t>审计存储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609480" y="5143680"/>
            <a:ext cx="358092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77" name=""/>
          <p:cNvPicPr/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/>
        </p:blipFill>
        <p:spPr>
          <a:xfrm>
            <a:off x="723960" y="526716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" descr="{&quot;isTemplate&quot;:true,&quot;type&quot;:&quot;text&quot;}"/>
          <p:cNvSpPr/>
          <p:nvPr/>
        </p:nvSpPr>
        <p:spPr>
          <a:xfrm>
            <a:off x="990720" y="5257800"/>
            <a:ext cx="856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端到端闭环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 descr="{&quot;isTemplate&quot;:true,&quot;type&quot;:&quot;text&quot;}"/>
          <p:cNvSpPr/>
          <p:nvPr/>
        </p:nvSpPr>
        <p:spPr>
          <a:xfrm>
            <a:off x="723960" y="5524560"/>
            <a:ext cx="33523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IM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入口 → 分诊 → 知识检索 → 风险分级 → 执行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审批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人工 → 验证 → 经验回流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4305240" y="5143680"/>
            <a:ext cx="358092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81" name=""/>
          <p:cNvPicPr/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/>
        </p:blipFill>
        <p:spPr>
          <a:xfrm>
            <a:off x="4419720" y="526716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" descr="{&quot;isTemplate&quot;:true,&quot;type&quot;:&quot;text&quot;}"/>
          <p:cNvSpPr/>
          <p:nvPr/>
        </p:nvSpPr>
        <p:spPr>
          <a:xfrm>
            <a:off x="4686480" y="5257800"/>
            <a:ext cx="1028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异常分支处理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 descr="{&quot;isTemplate&quot;:true,&quot;type&quot;:&quot;text&quot;}"/>
          <p:cNvSpPr/>
          <p:nvPr/>
        </p:nvSpPr>
        <p:spPr>
          <a:xfrm>
            <a:off x="4419720" y="5524560"/>
            <a:ext cx="33523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信息不足补件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老系统切人工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工具异常切备用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失败回滚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升级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高风险必审批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8001000" y="5143680"/>
            <a:ext cx="3580920" cy="1047240"/>
          </a:xfrm>
          <a:prstGeom prst="roundRect">
            <a:avLst>
              <a:gd name="adj" fmla="val 10909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85" name=""/>
          <p:cNvPicPr/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/>
        </p:blipFill>
        <p:spPr>
          <a:xfrm>
            <a:off x="8115480" y="526716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" descr="{&quot;isTemplate&quot;:true,&quot;type&quot;:&quot;text&quot;}"/>
          <p:cNvSpPr/>
          <p:nvPr/>
        </p:nvSpPr>
        <p:spPr>
          <a:xfrm>
            <a:off x="8381880" y="5257800"/>
            <a:ext cx="1028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安全与可审计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 descr="{&quot;isTemplate&quot;:true,&quot;type&quot;:&quot;text&quot;}"/>
          <p:cNvSpPr/>
          <p:nvPr/>
        </p:nvSpPr>
        <p:spPr>
          <a:xfrm>
            <a:off x="8115480" y="5524560"/>
            <a:ext cx="33523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L0-L3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动作分级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全链路证据留痕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可回放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脱敏归档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审计接口开放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07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3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2" name="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3" name="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4" name="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95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Microsoft YaHei"/>
                <a:ea typeface="Microsoft YaHei"/>
              </a:rPr>
              <a:t>第三章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多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协同设计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Microsoft YaHei"/>
                <a:ea typeface="Microsoft YaHei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 descr="{&quot;isTemplate&quot;:true,&quot;type&quot;:&quot;text&quot;}"/>
          <p:cNvSpPr/>
          <p:nvPr/>
        </p:nvSpPr>
        <p:spPr>
          <a:xfrm>
            <a:off x="2695680" y="3371760"/>
            <a:ext cx="312372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多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协同与自主闭环能力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1" name="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分工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任务拆解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上下文传递与状态流转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异常与冲突处理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安全边界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08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403" name=""/>
        <p:cNvGrpSpPr/>
        <p:nvPr/>
      </p:nvGrpSpPr>
      <p:grpSpPr>
        <a:xfrm rot="0" flipH="0" flipV="0">
          <a:off x="-9223372036854775808" y="-9223372036854775808"/>
          <a:ext cx="-2147483648" cy="-2147483648"/>
          <a:chOff x="0" y="0"/>
          <a:chExt cx="12191760" cy="6857640"/>
        </a:xfrm>
      </p:grpSpPr>
      <p:sp>
        <p:nvSpPr>
          <p:cNvPr id="404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5" name="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06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7" name="" descr="{&quot;isTemplate&quot;:true,&quot;type&quot;:&quot;text&quot;}"/>
          <p:cNvSpPr/>
          <p:nvPr/>
        </p:nvSpPr>
        <p:spPr>
          <a:xfrm>
            <a:off x="1238400" y="343080"/>
            <a:ext cx="47527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协同：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6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角色端到端闭环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 descr="{&quot;isTemplate&quot;:true,&quot;type&quot;:&quot;text&quot;}"/>
          <p:cNvSpPr/>
          <p:nvPr/>
        </p:nvSpPr>
        <p:spPr>
          <a:xfrm>
            <a:off x="1238400" y="809640"/>
            <a:ext cx="4752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第三章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多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协同设计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09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7991640" y="11430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1" name="" descr="{&quot;isTemplate&quot;:true,&quot;type&quot;:&quot;text&quot;}"/>
          <p:cNvSpPr/>
          <p:nvPr/>
        </p:nvSpPr>
        <p:spPr>
          <a:xfrm>
            <a:off x="8124840" y="12762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分工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 descr="{&quot;isTemplate&quot;:true,&quot;type&quot;:&quot;text&quot;}"/>
          <p:cNvSpPr/>
          <p:nvPr/>
        </p:nvSpPr>
        <p:spPr>
          <a:xfrm>
            <a:off x="8124840" y="15429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6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个不同职能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Agent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，满足赛题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至少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3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个不同职能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Agent"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要求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7991640" y="236232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4" name="" descr="{&quot;isTemplate&quot;:true,&quot;type&quot;:&quot;text&quot;}"/>
          <p:cNvSpPr/>
          <p:nvPr/>
        </p:nvSpPr>
        <p:spPr>
          <a:xfrm>
            <a:off x="8124840" y="249552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上下文传递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 descr="{&quot;isTemplate&quot;:true,&quot;type&quot;:&quot;text&quot;}"/>
          <p:cNvSpPr/>
          <p:nvPr/>
        </p:nvSpPr>
        <p:spPr>
          <a:xfrm>
            <a:off x="8124840" y="276228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工单状态、证据引用、用户环境、历史记录统一共享，避免各自为战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7991640" y="3581280"/>
            <a:ext cx="3590640" cy="1104480"/>
          </a:xfrm>
          <a:prstGeom prst="roundRect">
            <a:avLst>
              <a:gd name="adj" fmla="val 10345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7" name="" descr="{&quot;isTemplate&quot;:true,&quot;type&quot;:&quot;text&quot;}"/>
          <p:cNvSpPr/>
          <p:nvPr/>
        </p:nvSpPr>
        <p:spPr>
          <a:xfrm>
            <a:off x="8124840" y="371484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安全边界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 descr="{&quot;isTemplate&quot;:true,&quot;type&quot;:&quot;text&quot;}"/>
          <p:cNvSpPr/>
          <p:nvPr/>
        </p:nvSpPr>
        <p:spPr>
          <a:xfrm>
            <a:off x="8124840" y="398160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L0/L1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自动（可回放）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L2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审批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L3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人工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用户可随时中断转人工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7991640" y="48006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0" name="" descr="{&quot;isTemplate&quot;:true,&quot;type&quot;:&quot;text&quot;}"/>
          <p:cNvSpPr/>
          <p:nvPr/>
        </p:nvSpPr>
        <p:spPr>
          <a:xfrm>
            <a:off x="8124840" y="49338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891B2"/>
                </a:solidFill>
                <a:effectLst/>
                <a:uFillTx/>
                <a:latin typeface="Microsoft YaHei"/>
                <a:ea typeface="Microsoft YaHei"/>
              </a:rPr>
              <a:t>7x24 </a:t>
            </a: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Microsoft YaHei"/>
                <a:ea typeface="Microsoft YaHei"/>
              </a:rPr>
              <a:t>价值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" descr="{&quot;isTemplate&quot;:true,&quot;type&quot;:&quot;text&quot;}"/>
          <p:cNvSpPr/>
          <p:nvPr/>
        </p:nvSpPr>
        <p:spPr>
          <a:xfrm>
            <a:off x="8124840" y="52005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夜间自动接管常见账户异常，从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等人醒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到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秒级响应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09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609600" y="1143000"/>
            <a:ext cx="71882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p>
            <a:pPr/>
            <a:r>
              <a:rPr lang="zh-CN" sz="2000">
                <a:solidFill>
                  <a:srgbClr val="FFFFFF"/>
                </a:solidFill>
                <a:latin typeface="Microsoft YaHei"/>
                <a:ea typeface="Microsoft YaHei"/>
              </a:rPr>
              <a:t>TeamLeader 总控 · 任务拆解与编排</a:t>
            </a:r>
            <a:endParaRPr/>
          </a:p>
          <a:p>
            <a:pPr/>
            <a:r>
              <a:rPr lang="zh-CN" sz="2000">
                <a:solidFill>
                  <a:srgbClr val="FFFFFF"/>
                </a:solidFill>
                <a:latin typeface="Microsoft YaHei"/>
                <a:ea typeface="Microsoft YaHei"/>
              </a:rPr>
              <a:t>接收工单 → 拆解任务 → 分派职能 Agent → 汇总结果 → 升级决策</a:t>
            </a:r>
            <a:endParaRPr/>
          </a:p>
        </p:txBody>
      </p:sp>
      <p:sp>
        <p:nvSpPr>
          <p:cNvPr id="425" name=""/>
          <p:cNvSpPr/>
          <p:nvPr/>
        </p:nvSpPr>
        <p:spPr>
          <a:xfrm>
            <a:off x="609600" y="2286000"/>
            <a:ext cx="2260600" cy="939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p>
            <a:pPr/>
            <a:r>
              <a:rPr lang="zh-CN" sz="1700">
                <a:solidFill>
                  <a:srgbClr val="FFFFFF"/>
                </a:solidFill>
                <a:latin typeface="Microsoft YaHei"/>
                <a:ea typeface="Microsoft YaHei"/>
              </a:rPr>
              <a:t>① Ticket Intake</a:t>
            </a:r>
            <a:endParaRPr/>
          </a:p>
          <a:p>
            <a:pPr/>
            <a:r>
              <a:rPr lang="zh-CN" sz="1700">
                <a:solidFill>
                  <a:srgbClr val="FFFFFF"/>
                </a:solidFill>
                <a:latin typeface="Microsoft YaHei"/>
                <a:ea typeface="Microsoft YaHei"/>
              </a:rPr>
              <a:t>消息标准化 · 去重</a:t>
            </a:r>
            <a:endParaRPr/>
          </a:p>
        </p:txBody>
      </p:sp>
      <p:sp>
        <p:nvSpPr>
          <p:cNvPr id="426" name=""/>
          <p:cNvSpPr/>
          <p:nvPr/>
        </p:nvSpPr>
        <p:spPr>
          <a:xfrm>
            <a:off x="3022600" y="2286000"/>
            <a:ext cx="2260600" cy="939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p>
            <a:pPr/>
            <a:r>
              <a:rPr lang="zh-CN" sz="1700">
                <a:solidFill>
                  <a:srgbClr val="FFFFFF"/>
                </a:solidFill>
                <a:latin typeface="Microsoft YaHei"/>
                <a:ea typeface="Microsoft YaHei"/>
              </a:rPr>
              <a:t>② Knowledge</a:t>
            </a:r>
            <a:endParaRPr/>
          </a:p>
          <a:p>
            <a:pPr/>
            <a:r>
              <a:rPr lang="zh-CN" sz="1700">
                <a:solidFill>
                  <a:srgbClr val="FFFFFF"/>
                </a:solidFill>
                <a:latin typeface="Microsoft YaHei"/>
                <a:ea typeface="Microsoft YaHei"/>
              </a:rPr>
              <a:t>检索 Runbook / RAG</a:t>
            </a:r>
            <a:endParaRPr/>
          </a:p>
        </p:txBody>
      </p:sp>
      <p:sp>
        <p:nvSpPr>
          <p:cNvPr id="427" name=""/>
          <p:cNvSpPr/>
          <p:nvPr/>
        </p:nvSpPr>
        <p:spPr>
          <a:xfrm>
            <a:off x="5435600" y="2286000"/>
            <a:ext cx="2260600" cy="93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p>
            <a:pPr/>
            <a:r>
              <a:rPr lang="zh-CN" sz="1700">
                <a:solidFill>
                  <a:srgbClr val="FFFFFF"/>
                </a:solidFill>
                <a:latin typeface="Microsoft YaHei"/>
                <a:ea typeface="Microsoft YaHei"/>
              </a:rPr>
              <a:t>③ Triage Analyst</a:t>
            </a:r>
            <a:endParaRPr/>
          </a:p>
          <a:p>
            <a:pPr/>
            <a:r>
              <a:rPr lang="zh-CN" sz="1700">
                <a:solidFill>
                  <a:srgbClr val="FFFFFF"/>
                </a:solidFill>
                <a:latin typeface="Microsoft YaHei"/>
                <a:ea typeface="Microsoft YaHei"/>
              </a:rPr>
              <a:t>风险分级 L0-L3</a:t>
            </a:r>
            <a:endParaRPr/>
          </a:p>
        </p:txBody>
      </p:sp>
      <p:sp>
        <p:nvSpPr>
          <p:cNvPr id="428" name=""/>
          <p:cNvSpPr/>
          <p:nvPr/>
        </p:nvSpPr>
        <p:spPr>
          <a:xfrm>
            <a:off x="609600" y="4546600"/>
            <a:ext cx="7188200" cy="711200"/>
          </a:xfrm>
          <a:prstGeom prst="rect">
            <a:avLst/>
          </a:prstGeom>
          <a:solidFill>
            <a:srgbClr val="FFF7E6"/>
          </a:solidFill>
          <a:ln w="25400">
            <a:solidFill>
              <a:srgbClr val="F59E0B"/>
            </a:solidFill>
            <a:prstDash val="solid"/>
          </a:ln>
        </p:spPr>
        <p:txBody>
          <a:bodyPr/>
          <a:p>
            <a:pPr/>
            <a:r>
              <a:rPr lang="zh-CN" sz="1600">
                <a:solidFill>
                  <a:srgbClr val="92400E"/>
                </a:solidFill>
                <a:latin typeface="Microsoft YaHei"/>
                <a:ea typeface="Microsoft YaHei"/>
              </a:rPr>
              <a:t>结果回收：各 Agent 执行结果回传 TeamLeader</a:t>
            </a:r>
            <a:endParaRPr/>
          </a:p>
          <a:p>
            <a:pPr/>
            <a:r>
              <a:rPr lang="zh-CN" sz="1600">
                <a:solidFill>
                  <a:srgbClr val="92400E"/>
                </a:solidFill>
                <a:latin typeface="Microsoft YaHei"/>
                <a:ea typeface="Microsoft YaHei"/>
              </a:rPr>
              <a:t>统一状态流转 · 决定升级 · 经验回流 RAG</a:t>
            </a:r>
            <a:endParaRPr/>
          </a:p>
        </p:txBody>
      </p:sp>
      <p:sp>
        <p:nvSpPr>
          <p:cNvPr id="429" name=""/>
          <p:cNvSpPr/>
          <p:nvPr/>
        </p:nvSpPr>
        <p:spPr>
          <a:xfrm>
            <a:off x="609600" y="5410200"/>
            <a:ext cx="7188200" cy="71120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p>
            <a:pPr/>
            <a:r>
              <a:rPr lang="zh-CN" sz="1600">
                <a:solidFill>
                  <a:srgbClr val="1E3A8A"/>
                </a:solidFill>
                <a:latin typeface="Microsoft YaHei"/>
                <a:ea typeface="Microsoft YaHei"/>
              </a:rPr>
              <a:t>上下文共享：工单状态 · 证据引用 · 用户环境</a:t>
            </a:r>
            <a:endParaRPr/>
          </a:p>
          <a:p>
            <a:pPr/>
            <a:r>
              <a:rPr lang="zh-CN" sz="1600">
                <a:solidFill>
                  <a:srgbClr val="1E3A8A"/>
                </a:solidFill>
                <a:latin typeface="Microsoft YaHei"/>
                <a:ea typeface="Microsoft YaHei"/>
              </a:rPr>
              <a:t>异常分支：补件 / Legacy 人工 / 工具切换 / 回滚升级</a:t>
            </a:r>
            <a:endParaRPr/>
          </a:p>
        </p:txBody>
      </p:sp>
      <p:sp>
        <p:nvSpPr>
          <p:cNvPr id="430" name=""/>
          <p:cNvSpPr/>
          <p:nvPr/>
        </p:nvSpPr>
        <p:spPr>
          <a:xfrm>
            <a:off x="1803400" y="3403600"/>
            <a:ext cx="2260600" cy="939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p>
            <a:pPr/>
            <a:r>
              <a:rPr lang="zh-CN" sz="1700">
                <a:solidFill>
                  <a:srgbClr val="FFFFFF"/>
                </a:solidFill>
                <a:latin typeface="Microsoft YaHei"/>
                <a:ea typeface="Microsoft YaHei"/>
              </a:rPr>
              <a:t>④ Resolution</a:t>
            </a:r>
            <a:endParaRPr/>
          </a:p>
          <a:p>
            <a:pPr/>
            <a:r>
              <a:rPr lang="zh-CN" sz="1700">
                <a:solidFill>
                  <a:srgbClr val="FFFFFF"/>
                </a:solidFill>
                <a:latin typeface="Microsoft YaHei"/>
                <a:ea typeface="Microsoft YaHei"/>
              </a:rPr>
              <a:t>执行 / 审批 / 人工指引</a:t>
            </a:r>
            <a:endParaRPr/>
          </a:p>
        </p:txBody>
      </p:sp>
      <p:sp>
        <p:nvSpPr>
          <p:cNvPr id="431" name=""/>
          <p:cNvSpPr/>
          <p:nvPr/>
        </p:nvSpPr>
        <p:spPr>
          <a:xfrm>
            <a:off x="4229100" y="3403600"/>
            <a:ext cx="2260600" cy="93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p>
            <a:pPr/>
            <a:r>
              <a:rPr lang="zh-CN" sz="1700">
                <a:solidFill>
                  <a:srgbClr val="FFFFFF"/>
                </a:solidFill>
                <a:latin typeface="Microsoft YaHei"/>
                <a:ea typeface="Microsoft YaHei"/>
              </a:rPr>
              <a:t>⑤ Verify</a:t>
            </a:r>
            <a:endParaRPr/>
          </a:p>
          <a:p>
            <a:pPr/>
            <a:r>
              <a:rPr lang="zh-CN" sz="1700">
                <a:solidFill>
                  <a:srgbClr val="FFFFFF"/>
                </a:solidFill>
                <a:latin typeface="Microsoft YaHei"/>
                <a:ea typeface="Microsoft YaHei"/>
              </a:rPr>
              <a:t>恢复验证 · 复盘回流</a:t>
            </a:r>
            <a:endParaRPr/>
          </a:p>
        </p:txBody>
      </p:sp>
      <p:sp>
        <p:nvSpPr>
          <p:cNvPr id="432" name=""/>
          <p:cNvSpPr/>
          <p:nvPr/>
        </p:nvSpPr>
        <p:spPr>
          <a:xfrm>
            <a:off x="1739900" y="2057400"/>
            <a:ext cx="0" cy="2032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3" name=""/>
          <p:cNvSpPr/>
          <p:nvPr/>
        </p:nvSpPr>
        <p:spPr>
          <a:xfrm>
            <a:off x="4152900" y="2057400"/>
            <a:ext cx="0" cy="2032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4" name=""/>
          <p:cNvSpPr/>
          <p:nvPr/>
        </p:nvSpPr>
        <p:spPr>
          <a:xfrm>
            <a:off x="6565900" y="2057400"/>
            <a:ext cx="0" cy="2032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5" name=""/>
          <p:cNvSpPr/>
          <p:nvPr/>
        </p:nvSpPr>
        <p:spPr>
          <a:xfrm>
            <a:off x="2946400" y="2057400"/>
            <a:ext cx="0" cy="13208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6" name=""/>
          <p:cNvSpPr/>
          <p:nvPr/>
        </p:nvSpPr>
        <p:spPr>
          <a:xfrm>
            <a:off x="5359400" y="2057400"/>
            <a:ext cx="0" cy="13208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3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Microsoft YaHei"/>
                <a:ea typeface="Microsoft YaHei"/>
              </a:rPr>
              <a:t>第四章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Skill </a:t>
            </a: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工程体系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Microsoft YaHei"/>
                <a:ea typeface="Microsoft YaHei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 descr="{&quot;isTemplate&quot;:true,&quot;type&quot;:&quot;text&quot;}"/>
          <p:cNvSpPr/>
          <p:nvPr/>
        </p:nvSpPr>
        <p:spPr>
          <a:xfrm>
            <a:off x="2695680" y="3371760"/>
            <a:ext cx="260964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Skill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工程体系与生态复用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Skill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清单与任务覆盖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单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Skill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规格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复用性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生命周期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官方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Skills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复用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10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4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" descr="{&quot;isTemplate&quot;:true,&quot;type&quot;:&quot;text&quot;}"/>
          <p:cNvSpPr/>
          <p:nvPr/>
        </p:nvSpPr>
        <p:spPr>
          <a:xfrm>
            <a:off x="1238400" y="343080"/>
            <a:ext cx="47620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Skill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工程体系：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13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个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Skill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资产包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 descr="{&quot;isTemplate&quot;:true,&quot;type&quot;:&quot;text&quot;}"/>
          <p:cNvSpPr/>
          <p:nvPr/>
        </p:nvSpPr>
        <p:spPr>
          <a:xfrm>
            <a:off x="1238400" y="80964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第四章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Skill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工程体系（本赛题必选项）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11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609480" y="1143000"/>
            <a:ext cx="7191000" cy="5181120"/>
          </a:xfrm>
          <a:prstGeom prst="roundRect">
            <a:avLst>
              <a:gd name="adj" fmla="val 2206"/>
            </a:avLst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9" name=""/>
          <p:cNvPicPr/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/>
        </p:blipFill>
        <p:spPr>
          <a:xfrm>
            <a:off x="685800" y="1219320"/>
            <a:ext cx="7038720" cy="502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"/>
          <p:cNvSpPr/>
          <p:nvPr/>
        </p:nvSpPr>
        <p:spPr>
          <a:xfrm>
            <a:off x="7991640" y="11430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" descr="{&quot;isTemplate&quot;:true,&quot;type&quot;:&quot;text&quot;}"/>
          <p:cNvSpPr/>
          <p:nvPr/>
        </p:nvSpPr>
        <p:spPr>
          <a:xfrm>
            <a:off x="8124840" y="12762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9 </a:t>
            </a: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个跨场景通用 </a:t>
            </a: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Skill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 descr="{&quot;isTemplate&quot;:true,&quot;type&quot;:&quot;text&quot;}"/>
          <p:cNvSpPr/>
          <p:nvPr/>
        </p:nvSpPr>
        <p:spPr>
          <a:xfrm>
            <a:off x="8124840" y="15429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入口标准化、知识检索、分级处置、审批、升级、复盘、知识回流、观测——不绑定账户场景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7991640" y="2362320"/>
            <a:ext cx="3590640" cy="139032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" descr="{&quot;isTemplate&quot;:true,&quot;type&quot;:&quot;text&quot;}"/>
          <p:cNvSpPr/>
          <p:nvPr/>
        </p:nvSpPr>
        <p:spPr>
          <a:xfrm>
            <a:off x="8124840" y="249552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标准</a:t>
            </a: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Skill </a:t>
            </a: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契约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 descr="{&quot;isTemplate&quot;:true,&quot;type&quot;:&quot;text&quot;}"/>
          <p:cNvSpPr/>
          <p:nvPr/>
        </p:nvSpPr>
        <p:spPr>
          <a:xfrm>
            <a:off x="8124840" y="2762280"/>
            <a:ext cx="332388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名称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类型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场景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输入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输出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调用条件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依赖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失败处理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权限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复用——按赛题附录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B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完整定义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7991640" y="3867120"/>
            <a:ext cx="3590640" cy="1104480"/>
          </a:xfrm>
          <a:prstGeom prst="roundRect">
            <a:avLst>
              <a:gd name="adj" fmla="val 10345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" descr="{&quot;isTemplate&quot;:true,&quot;type&quot;:&quot;text&quot;}"/>
          <p:cNvSpPr/>
          <p:nvPr/>
        </p:nvSpPr>
        <p:spPr>
          <a:xfrm>
            <a:off x="8124840" y="400068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工程化与生命周期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 descr="{&quot;isTemplate&quot;:true,&quot;type&quot;:&quot;text&quot;}"/>
          <p:cNvSpPr/>
          <p:nvPr/>
        </p:nvSpPr>
        <p:spPr>
          <a:xfrm>
            <a:off x="8124840" y="426708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无状态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可替换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可审计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可版本化；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Nacos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注册管理；复用官方用云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Skills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991640" y="508644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" descr="{&quot;isTemplate&quot;:true,&quot;type&quot;:&quot;text&quot;}"/>
          <p:cNvSpPr/>
          <p:nvPr/>
        </p:nvSpPr>
        <p:spPr>
          <a:xfrm>
            <a:off x="8124840" y="521964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Microsoft YaHei"/>
                <a:ea typeface="Microsoft YaHei"/>
              </a:rPr>
              <a:t>与多</a:t>
            </a:r>
            <a:r>
              <a:rPr lang="en-US" sz="1350" b="1" u="none" strike="noStrike">
                <a:solidFill>
                  <a:srgbClr val="0891B2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350" b="1" u="none" strike="noStrike">
                <a:solidFill>
                  <a:srgbClr val="0891B2"/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Microsoft YaHei"/>
                <a:ea typeface="Microsoft YaHei"/>
              </a:rPr>
              <a:t>协同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 descr="{&quot;isTemplate&quot;:true,&quot;type&quot;:&quot;text&quot;}"/>
          <p:cNvSpPr/>
          <p:nvPr/>
        </p:nvSpPr>
        <p:spPr>
          <a:xfrm>
            <a:off x="8124840" y="548640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不裸调工具——一切通过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Skill + MCP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形成可治理调用链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11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9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Microsoft YaHei"/>
                <a:ea typeface="Microsoft YaHei"/>
              </a:rPr>
              <a:t>第五章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工程落地、运行验证与安全可审计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Microsoft YaHei"/>
                <a:ea typeface="Microsoft YaHei"/>
              </a:rPr>
              <a:t>20%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 descr="{&quot;isTemplate&quot;:true,&quot;type&quot;:&quot;text&quot;}"/>
          <p:cNvSpPr/>
          <p:nvPr/>
        </p:nvSpPr>
        <p:spPr>
          <a:xfrm>
            <a:off x="2695680" y="3371760"/>
            <a:ext cx="342864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工程落地、运行验证与安全可审计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可运行性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运行证据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可观测与检索链路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安全治理机制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云产品选型边界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12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" descr="{&quot;isTemplate&quot;:true,&quot;type&quot;:&quot;text&quot;}"/>
          <p:cNvSpPr/>
          <p:nvPr/>
        </p:nvSpPr>
        <p:spPr>
          <a:xfrm>
            <a:off x="1238400" y="343080"/>
            <a:ext cx="58291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工程落地：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Mock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闭环、证据链与安全治理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 descr="{&quot;isTemplate&quot;:true,&quot;type&quot;:&quot;text&quot;}"/>
          <p:cNvSpPr/>
          <p:nvPr/>
        </p:nvSpPr>
        <p:spPr>
          <a:xfrm>
            <a:off x="1238400" y="809640"/>
            <a:ext cx="5829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第五章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工程落地、运行验证与安全可审计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13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609480" y="11430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"/>
          <p:cNvSpPr/>
          <p:nvPr/>
        </p:nvSpPr>
        <p:spPr>
          <a:xfrm>
            <a:off x="762120" y="12193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1E3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" descr="{&quot;isTemplate&quot;:true,&quot;type&quot;:&quot;text&quot;}"/>
          <p:cNvSpPr/>
          <p:nvPr/>
        </p:nvSpPr>
        <p:spPr>
          <a:xfrm>
            <a:off x="905040" y="13143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 descr="{&quot;isTemplate&quot;:true,&quot;type&quot;:&quot;text&quot;}"/>
          <p:cNvSpPr/>
          <p:nvPr/>
        </p:nvSpPr>
        <p:spPr>
          <a:xfrm>
            <a:off x="1276200" y="130500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Mock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工单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 descr="{&quot;isTemplate&quot;:true,&quot;type&quot;:&quot;text&quot;}"/>
          <p:cNvSpPr/>
          <p:nvPr/>
        </p:nvSpPr>
        <p:spPr>
          <a:xfrm>
            <a:off x="2438280" y="1305000"/>
            <a:ext cx="1514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样例输入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事件触发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09480" y="17715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"/>
          <p:cNvSpPr/>
          <p:nvPr/>
        </p:nvSpPr>
        <p:spPr>
          <a:xfrm>
            <a:off x="762120" y="18478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" descr="{&quot;isTemplate&quot;:true,&quot;type&quot;:&quot;text&quot;}"/>
          <p:cNvSpPr/>
          <p:nvPr/>
        </p:nvSpPr>
        <p:spPr>
          <a:xfrm>
            <a:off x="905040" y="19432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 descr="{&quot;isTemplate&quot;:true,&quot;type&quot;:&quot;text&quot;}"/>
          <p:cNvSpPr/>
          <p:nvPr/>
        </p:nvSpPr>
        <p:spPr>
          <a:xfrm>
            <a:off x="1276200" y="193356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分诊分类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 descr="{&quot;isTemplate&quot;:true,&quot;type&quot;:&quot;text&quot;}"/>
          <p:cNvSpPr/>
          <p:nvPr/>
        </p:nvSpPr>
        <p:spPr>
          <a:xfrm>
            <a:off x="2438280" y="1933560"/>
            <a:ext cx="185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事件标准化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紧急度判断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609480" y="240048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"/>
          <p:cNvSpPr/>
          <p:nvPr/>
        </p:nvSpPr>
        <p:spPr>
          <a:xfrm>
            <a:off x="762120" y="247644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" descr="{&quot;isTemplate&quot;:true,&quot;type&quot;:&quot;text&quot;}"/>
          <p:cNvSpPr/>
          <p:nvPr/>
        </p:nvSpPr>
        <p:spPr>
          <a:xfrm>
            <a:off x="905040" y="257184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 descr="{&quot;isTemplate&quot;:true,&quot;type&quot;:&quot;text&quot;}"/>
          <p:cNvSpPr/>
          <p:nvPr/>
        </p:nvSpPr>
        <p:spPr>
          <a:xfrm>
            <a:off x="1276200" y="256212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RAG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检索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 descr="{&quot;isTemplate&quot;:true,&quot;type&quot;:&quot;text&quot;}"/>
          <p:cNvSpPr/>
          <p:nvPr/>
        </p:nvSpPr>
        <p:spPr>
          <a:xfrm>
            <a:off x="2438280" y="2562120"/>
            <a:ext cx="197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知识命中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Runbook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检索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09480" y="302904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"/>
          <p:cNvSpPr/>
          <p:nvPr/>
        </p:nvSpPr>
        <p:spPr>
          <a:xfrm>
            <a:off x="762120" y="310500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" descr="{&quot;isTemplate&quot;:true,&quot;type&quot;:&quot;text&quot;}"/>
          <p:cNvSpPr/>
          <p:nvPr/>
        </p:nvSpPr>
        <p:spPr>
          <a:xfrm>
            <a:off x="905040" y="320040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 descr="{&quot;isTemplate&quot;:true,&quot;type&quot;:&quot;text&quot;}"/>
          <p:cNvSpPr/>
          <p:nvPr/>
        </p:nvSpPr>
        <p:spPr>
          <a:xfrm>
            <a:off x="1276200" y="319104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处置执行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 descr="{&quot;isTemplate&quot;:true,&quot;type&quot;:&quot;text&quot;}"/>
          <p:cNvSpPr/>
          <p:nvPr/>
        </p:nvSpPr>
        <p:spPr>
          <a:xfrm>
            <a:off x="2438280" y="3191040"/>
            <a:ext cx="2066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自动执行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审批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人工指引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09480" y="36576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"/>
          <p:cNvSpPr/>
          <p:nvPr/>
        </p:nvSpPr>
        <p:spPr>
          <a:xfrm>
            <a:off x="762120" y="37339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" descr="{&quot;isTemplate&quot;:true,&quot;type&quot;:&quot;text&quot;}"/>
          <p:cNvSpPr/>
          <p:nvPr/>
        </p:nvSpPr>
        <p:spPr>
          <a:xfrm>
            <a:off x="905040" y="38289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 descr="{&quot;isTemplate&quot;:true,&quot;type&quot;:&quot;text&quot;}"/>
          <p:cNvSpPr/>
          <p:nvPr/>
        </p:nvSpPr>
        <p:spPr>
          <a:xfrm>
            <a:off x="1276200" y="381960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验证恢复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 descr="{&quot;isTemplate&quot;:true,&quot;type&quot;:&quot;text&quot;}"/>
          <p:cNvSpPr/>
          <p:nvPr/>
        </p:nvSpPr>
        <p:spPr>
          <a:xfrm>
            <a:off x="2438280" y="3819600"/>
            <a:ext cx="1695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Verify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闭环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结果确认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09480" y="42861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"/>
          <p:cNvSpPr/>
          <p:nvPr/>
        </p:nvSpPr>
        <p:spPr>
          <a:xfrm>
            <a:off x="762120" y="43624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" descr="{&quot;isTemplate&quot;:true,&quot;type&quot;:&quot;text&quot;}"/>
          <p:cNvSpPr/>
          <p:nvPr/>
        </p:nvSpPr>
        <p:spPr>
          <a:xfrm>
            <a:off x="905040" y="44578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 descr="{&quot;isTemplate&quot;:true,&quot;type&quot;:&quot;text&quot;}"/>
          <p:cNvSpPr/>
          <p:nvPr/>
        </p:nvSpPr>
        <p:spPr>
          <a:xfrm>
            <a:off x="1276200" y="444816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经验回流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 descr="{&quot;isTemplate&quot;:true,&quot;type&quot;:&quot;text&quot;}"/>
          <p:cNvSpPr/>
          <p:nvPr/>
        </p:nvSpPr>
        <p:spPr>
          <a:xfrm>
            <a:off x="2438280" y="4448160"/>
            <a:ext cx="199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RAG · Badcase 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知识更新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609480" y="49338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" descr="{&quot;isTemplate&quot;:true,&quot;type&quot;:&quot;text&quot;}"/>
          <p:cNvSpPr/>
          <p:nvPr/>
        </p:nvSpPr>
        <p:spPr>
          <a:xfrm>
            <a:off x="762120" y="50292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全链路证据沉淀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 descr="{&quot;isTemplate&quot;:true,&quot;type&quot;:&quot;text&quot;}"/>
          <p:cNvSpPr/>
          <p:nvPr/>
        </p:nvSpPr>
        <p:spPr>
          <a:xfrm>
            <a:off x="762120" y="52671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Incident State · Agent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调用链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Tool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输入输出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LLM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决策摘要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RAG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检索结果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验证结论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证据引用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609480" y="57150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" descr="{&quot;isTemplate&quot;:true,&quot;type&quot;:&quot;text&quot;}"/>
          <p:cNvSpPr/>
          <p:nvPr/>
        </p:nvSpPr>
        <p:spPr>
          <a:xfrm>
            <a:off x="762120" y="58104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0891B2"/>
                </a:solidFill>
                <a:effectLst/>
                <a:uFillTx/>
                <a:latin typeface="Microsoft YaHei"/>
                <a:ea typeface="Microsoft YaHei"/>
              </a:rPr>
              <a:t>可观测：</a:t>
            </a:r>
            <a:r>
              <a:rPr lang="en-US" sz="1280" b="1" u="none" strike="noStrike">
                <a:solidFill>
                  <a:srgbClr val="0891B2"/>
                </a:solidFill>
                <a:effectLst/>
                <a:uFillTx/>
                <a:latin typeface="Microsoft YaHei"/>
                <a:ea typeface="Microsoft YaHei"/>
              </a:rPr>
              <a:t>AgentLoop / LoongSuite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 descr="{&quot;isTemplate&quot;:true,&quot;type&quot;:&quot;text&quot;}"/>
          <p:cNvSpPr/>
          <p:nvPr/>
        </p:nvSpPr>
        <p:spPr>
          <a:xfrm>
            <a:off x="762120" y="60483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Trace · Log · Metrics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：时延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Token 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成功率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首次解决率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升级率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Badcase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7991640" y="1143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" descr="{&quot;isTemplate&quot;:true,&quot;type&quot;:&quot;text&quot;}"/>
          <p:cNvSpPr/>
          <p:nvPr/>
        </p:nvSpPr>
        <p:spPr>
          <a:xfrm>
            <a:off x="8105760" y="1257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可运行性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 descr="{&quot;isTemplate&quot;:true,&quot;type&quot;:&quot;text&quot;}"/>
          <p:cNvSpPr/>
          <p:nvPr/>
        </p:nvSpPr>
        <p:spPr>
          <a:xfrm>
            <a:off x="8105760" y="1523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初赛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Mock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工单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知识库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审批流可演示闭环；复赛接真实系统保持同一套契约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7991640" y="2286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" descr="{&quot;isTemplate&quot;:true,&quot;type&quot;:&quot;text&quot;}"/>
          <p:cNvSpPr/>
          <p:nvPr/>
        </p:nvSpPr>
        <p:spPr>
          <a:xfrm>
            <a:off x="8105760" y="2400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安全治理</a:t>
            </a: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L0-L3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 descr="{&quot;isTemplate&quot;:true,&quot;type&quot;:&quot;text&quot;}"/>
          <p:cNvSpPr/>
          <p:nvPr/>
        </p:nvSpPr>
        <p:spPr>
          <a:xfrm>
            <a:off x="8105760" y="2666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L0/L1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自动执行（可回放）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L2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审批单（执行人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时间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原因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回滚点）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· L3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人工闭环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7991640" y="3429000"/>
            <a:ext cx="3590640" cy="1047240"/>
          </a:xfrm>
          <a:prstGeom prst="roundRect">
            <a:avLst>
              <a:gd name="adj" fmla="val 9091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" descr="{&quot;isTemplate&quot;:true,&quot;type&quot;:&quot;text&quot;}"/>
          <p:cNvSpPr/>
          <p:nvPr/>
        </p:nvSpPr>
        <p:spPr>
          <a:xfrm>
            <a:off x="8105760" y="3543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运行证据与审计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 descr="{&quot;isTemplate&quot;:true,&quot;type&quot;:&quot;text&quot;}"/>
          <p:cNvSpPr/>
          <p:nvPr/>
        </p:nvSpPr>
        <p:spPr>
          <a:xfrm>
            <a:off x="8105760" y="3809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输出附带证据引用；支持按工单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/Agent/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时间回放；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Badcase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回流数据集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7991640" y="4572000"/>
            <a:ext cx="3590640" cy="1323720"/>
          </a:xfrm>
          <a:prstGeom prst="roundRect">
            <a:avLst>
              <a:gd name="adj" fmla="val 719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" descr="{&quot;isTemplate&quot;:true,&quot;type&quot;:&quot;text&quot;}"/>
          <p:cNvSpPr/>
          <p:nvPr/>
        </p:nvSpPr>
        <p:spPr>
          <a:xfrm>
            <a:off x="8105760" y="4686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Microsoft YaHei"/>
                <a:ea typeface="Microsoft YaHei"/>
              </a:rPr>
              <a:t>云产品选型与边界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 descr="{&quot;isTemplate&quot;:true,&quot;type&quot;:&quot;text&quot;}"/>
          <p:cNvSpPr/>
          <p:nvPr/>
        </p:nvSpPr>
        <p:spPr>
          <a:xfrm>
            <a:off x="8105760" y="4952880"/>
            <a:ext cx="3362040" cy="82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底座内建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+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外挂可选（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Nacos/PolarDB/RocketMQ/LoongSuite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），可替换性已说明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13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Microsoft YaHei"/>
                <a:ea typeface="Microsoft YaHei"/>
              </a:rPr>
              <a:t>第六章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开放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开源计划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 descr="{&quot;isTemplate&quot;:true,&quot;type&quot;:&quot;text&quot;}"/>
          <p:cNvSpPr/>
          <p:nvPr/>
        </p:nvSpPr>
        <p:spPr>
          <a:xfrm>
            <a:off x="762120" y="3371760"/>
            <a:ext cx="130464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Microsoft YaHei"/>
                <a:ea typeface="Microsoft YaHei"/>
              </a:rPr>
              <a:t>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 descr="{&quot;isTemplate&quot;:true,&quot;type&quot;:&quot;text&quot;}"/>
          <p:cNvSpPr/>
          <p:nvPr/>
        </p:nvSpPr>
        <p:spPr>
          <a:xfrm>
            <a:off x="2181240" y="3371760"/>
            <a:ext cx="161892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开放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开源贡献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可复用成果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接口契约与文档示例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开源协议与第三方依赖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14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" descr="{&quot;isTemplate&quot;:true,&quot;type&quot;:&quot;text&quot;}"/>
          <p:cNvSpPr/>
          <p:nvPr/>
        </p:nvSpPr>
        <p:spPr>
          <a:xfrm>
            <a:off x="1238400" y="343080"/>
            <a:ext cx="48002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开放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开源：可复用的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Skill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资产包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 descr="{&quot;isTemplate&quot;:true,&quot;type&quot;:&quot;text&quot;}"/>
          <p:cNvSpPr/>
          <p:nvPr/>
        </p:nvSpPr>
        <p:spPr>
          <a:xfrm>
            <a:off x="1238400" y="809640"/>
            <a:ext cx="4800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第六章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开放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开源计划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15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 descr="{&quot;isTemplate&quot;:true,&quot;type&quot;:&quot;text&quot;}"/>
          <p:cNvSpPr/>
          <p:nvPr/>
        </p:nvSpPr>
        <p:spPr>
          <a:xfrm>
            <a:off x="609480" y="2076480"/>
            <a:ext cx="4000320" cy="18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5000"/>
              </a:lnSpc>
            </a:pPr>
            <a:r>
              <a:rPr lang="zh-CN" sz="330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让每个团队都能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</a:pPr>
            <a:r>
              <a:rPr lang="zh-CN" sz="330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搭起自己的服务台</a:t>
            </a:r>
            <a:r>
              <a:rPr lang="en-US" sz="330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330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Agent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609480" y="4114800"/>
            <a:ext cx="761760" cy="37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B82F6"/>
              </a:gs>
              <a:gs pos="100000">
                <a:srgbClr val="06B6D4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" descr="{&quot;isTemplate&quot;:true,&quot;type&quot;:&quot;text&quot;}"/>
          <p:cNvSpPr/>
          <p:nvPr/>
        </p:nvSpPr>
        <p:spPr>
          <a:xfrm>
            <a:off x="609480" y="4305240"/>
            <a:ext cx="40003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60000"/>
              </a:lnSpc>
            </a:pPr>
            <a:r>
              <a:rPr lang="zh-CN" sz="14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开源可复用、可验证、可演进的</a:t>
            </a:r>
            <a:r>
              <a:rPr lang="en-US" sz="14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4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Skill </a:t>
            </a:r>
            <a:r>
              <a:rPr lang="zh-CN" sz="14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资产包，降低后续团队门槛，形成服务台 </a:t>
            </a:r>
            <a:r>
              <a:rPr lang="en-US" sz="14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43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的参考实现与最佳实践。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4915080" y="1143000"/>
            <a:ext cx="6667200" cy="1123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"/>
          <p:cNvSpPr/>
          <p:nvPr/>
        </p:nvSpPr>
        <p:spPr>
          <a:xfrm>
            <a:off x="5067360" y="1295280"/>
            <a:ext cx="456840" cy="456840"/>
          </a:xfrm>
          <a:prstGeom prst="roundRect">
            <a:avLst>
              <a:gd name="adj" fmla="val 20833"/>
            </a:avLst>
          </a:prstGeom>
          <a:solidFill>
            <a:srgbClr val="3B82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"/>
          <p:cNvPicPr/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/>
        </p:blipFill>
        <p:spPr>
          <a:xfrm>
            <a:off x="5181480" y="14097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" descr="{&quot;isTemplate&quot;:true,&quot;type&quot;:&quot;text&quot;}"/>
          <p:cNvSpPr/>
          <p:nvPr/>
        </p:nvSpPr>
        <p:spPr>
          <a:xfrm>
            <a:off x="5657760" y="1295280"/>
            <a:ext cx="577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开源范围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 descr="{&quot;isTemplate&quot;:true,&quot;type&quot;:&quot;text&quot;}"/>
          <p:cNvSpPr/>
          <p:nvPr/>
        </p:nvSpPr>
        <p:spPr>
          <a:xfrm>
            <a:off x="5657760" y="1562040"/>
            <a:ext cx="57718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核心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Skills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9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个通用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+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场景示例）、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AgentSpec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Mock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工具、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Demo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运行脚本、接口契约、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Schema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、样例数据、运行录像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4915080" y="2419200"/>
            <a:ext cx="6667200" cy="1123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"/>
          <p:cNvSpPr/>
          <p:nvPr/>
        </p:nvSpPr>
        <p:spPr>
          <a:xfrm>
            <a:off x="5067360" y="2571840"/>
            <a:ext cx="456840" cy="456840"/>
          </a:xfrm>
          <a:prstGeom prst="roundRect">
            <a:avLst>
              <a:gd name="adj" fmla="val 20833"/>
            </a:avLst>
          </a:prstGeom>
          <a:solidFill>
            <a:srgbClr val="06B6D4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4" name=""/>
          <p:cNvPicPr/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/>
        </p:blipFill>
        <p:spPr>
          <a:xfrm>
            <a:off x="5181480" y="26859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" descr="{&quot;isTemplate&quot;:true,&quot;type&quot;:&quot;text&quot;}"/>
          <p:cNvSpPr/>
          <p:nvPr/>
        </p:nvSpPr>
        <p:spPr>
          <a:xfrm>
            <a:off x="5657760" y="2571840"/>
            <a:ext cx="577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复用方式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 descr="{&quot;isTemplate&quot;:true,&quot;type&quot;:&quot;text&quot;}"/>
          <p:cNvSpPr/>
          <p:nvPr/>
        </p:nvSpPr>
        <p:spPr>
          <a:xfrm>
            <a:off x="5657760" y="2838600"/>
            <a:ext cx="57718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其他团队可直接复用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ImTicketNormalizer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RunbookRag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SafeResolver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Postmortem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等通用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Skill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；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Skill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无状态、可替换，换场景不换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Skill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4915080" y="3695760"/>
            <a:ext cx="6667200" cy="1123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"/>
          <p:cNvSpPr/>
          <p:nvPr/>
        </p:nvSpPr>
        <p:spPr>
          <a:xfrm>
            <a:off x="5067360" y="3848040"/>
            <a:ext cx="456840" cy="456840"/>
          </a:xfrm>
          <a:prstGeom prst="roundRect">
            <a:avLst>
              <a:gd name="adj" fmla="val 20833"/>
            </a:avLst>
          </a:prstGeom>
          <a:solidFill>
            <a:srgbClr val="8B5C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9" name=""/>
          <p:cNvPicPr/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/>
        </p:blipFill>
        <p:spPr>
          <a:xfrm>
            <a:off x="5181480" y="39625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" descr="{&quot;isTemplate&quot;:true,&quot;type&quot;:&quot;text&quot;}"/>
          <p:cNvSpPr/>
          <p:nvPr/>
        </p:nvSpPr>
        <p:spPr>
          <a:xfrm>
            <a:off x="5657760" y="3848040"/>
            <a:ext cx="577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合规边界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 descr="{&quot;isTemplate&quot;:true,&quot;type&quot;:&quot;text&quot;}"/>
          <p:cNvSpPr/>
          <p:nvPr/>
        </p:nvSpPr>
        <p:spPr>
          <a:xfrm>
            <a:off x="5657760" y="4114800"/>
            <a:ext cx="57718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拟采用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MIT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协议；完整披露第三方依赖、商业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API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DeepSeek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）、闭源模型使用范围与迁移成本；数据全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Mock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自建，无授权风险；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Schema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预留脱敏字段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15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9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Microsoft YaHei"/>
                <a:ea typeface="Microsoft YaHei"/>
              </a:rPr>
              <a:t>第七章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落地计划与进展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 descr="{&quot;isTemplate&quot;:true,&quot;type&quot;:&quot;text&quot;}"/>
          <p:cNvSpPr/>
          <p:nvPr/>
        </p:nvSpPr>
        <p:spPr>
          <a:xfrm>
            <a:off x="762120" y="3371760"/>
            <a:ext cx="112356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Microsoft YaHei"/>
                <a:ea typeface="Microsoft YaHei"/>
              </a:rPr>
              <a:t>V2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 descr="{&quot;isTemplate&quot;:true,&quot;type&quot;:&quot;text&quot;}"/>
          <p:cNvSpPr/>
          <p:nvPr/>
        </p:nvSpPr>
        <p:spPr>
          <a:xfrm>
            <a:off x="2000160" y="3371760"/>
            <a:ext cx="228564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当前进展与整体可行性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当前进展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里程碑与落地计划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风险控制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16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p14="http://schemas.microsoft.com/office/powerpoint/2010/main" xmlns:mc="http://schemas.openxmlformats.org/markup-compatibility/2006" mc:Ignorable="asvg p14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0" name=""/>
          <p:cNvPicPr/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" descr="{&quot;isTemplate&quot;:true,&quot;type&quot;:&quot;text&quot;}"/>
          <p:cNvSpPr/>
          <p:nvPr/>
        </p:nvSpPr>
        <p:spPr>
          <a:xfrm>
            <a:off x="1238400" y="343080"/>
            <a:ext cx="49906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落地计划：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V2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现状与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V3/V4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路线图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 descr="{&quot;isTemplate&quot;:true,&quot;type&quot;:&quot;text&quot;}"/>
          <p:cNvSpPr/>
          <p:nvPr/>
        </p:nvSpPr>
        <p:spPr>
          <a:xfrm>
            <a:off x="1238400" y="809640"/>
            <a:ext cx="49906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第七章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Microsoft YaHei"/>
                <a:ea typeface="Microsoft YaHei"/>
              </a:rPr>
              <a:t>落地计划与进展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17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609480" y="1143000"/>
            <a:ext cx="7191000" cy="5181120"/>
          </a:xfrm>
          <a:prstGeom prst="roundRect">
            <a:avLst>
              <a:gd name="adj" fmla="val 2206"/>
            </a:avLst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5" name=""/>
          <p:cNvPicPr/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/>
        </p:blipFill>
        <p:spPr>
          <a:xfrm>
            <a:off x="685800" y="1219320"/>
            <a:ext cx="7038720" cy="502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7991640" y="11430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" descr="{&quot;isTemplate&quot;:true,&quot;type&quot;:&quot;text&quot;}"/>
          <p:cNvSpPr/>
          <p:nvPr/>
        </p:nvSpPr>
        <p:spPr>
          <a:xfrm>
            <a:off x="8124840" y="12762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当前进展（已完成）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 descr="{&quot;isTemplate&quot;:true,&quot;type&quot;:&quot;text&quot;}"/>
          <p:cNvSpPr/>
          <p:nvPr/>
        </p:nvSpPr>
        <p:spPr>
          <a:xfrm>
            <a:off x="8124840" y="15429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方案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V2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赛题格式完整版：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Agent Identity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清单、逐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Skill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完整清单、合规披露、可复制性论证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7991640" y="236232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" name="" descr="{&quot;isTemplate&quot;:true,&quot;type&quot;:&quot;text&quot;}"/>
          <p:cNvSpPr/>
          <p:nvPr/>
        </p:nvSpPr>
        <p:spPr>
          <a:xfrm>
            <a:off x="8124840" y="249552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Microsoft YaHei"/>
                <a:ea typeface="Microsoft YaHei"/>
              </a:rPr>
              <a:t>近期里程碑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 descr="{&quot;isTemplate&quot;:true,&quot;type&quot;:&quot;text&quot;}"/>
          <p:cNvSpPr/>
          <p:nvPr/>
        </p:nvSpPr>
        <p:spPr>
          <a:xfrm>
            <a:off x="8124840" y="276228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①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作品简介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500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字 → ②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Mock Demo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最小闭环运行证据 → ③ 方案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PPT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定稿 → ④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8.16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提交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7991640" y="3581280"/>
            <a:ext cx="3590640" cy="1676160"/>
          </a:xfrm>
          <a:prstGeom prst="roundRect">
            <a:avLst>
              <a:gd name="adj" fmla="val 6818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" name="" descr="{&quot;isTemplate&quot;:true,&quot;type&quot;:&quot;text&quot;}"/>
          <p:cNvSpPr/>
          <p:nvPr/>
        </p:nvSpPr>
        <p:spPr>
          <a:xfrm>
            <a:off x="8124840" y="371484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风险控制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 descr="{&quot;isTemplate&quot;:true,&quot;type&quot;:&quot;text&quot;}"/>
          <p:cNvSpPr/>
          <p:nvPr/>
        </p:nvSpPr>
        <p:spPr>
          <a:xfrm>
            <a:off x="8124840" y="3981600"/>
            <a:ext cx="3323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无验证材料风险 →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8.16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前跑通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Mock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闭环留证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单场景扩展风险 →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9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通用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Skill +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三阶段拓展路径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模型依赖风险 →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Higress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Microsoft YaHei"/>
                <a:ea typeface="Microsoft YaHei"/>
              </a:rPr>
              <a:t>路由可换开源模型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7991640" y="537228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" descr="{&quot;isTemplate&quot;:true,&quot;type&quot;:&quot;text&quot;}"/>
          <p:cNvSpPr/>
          <p:nvPr/>
        </p:nvSpPr>
        <p:spPr>
          <a:xfrm>
            <a:off x="8124840" y="550548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Microsoft YaHei"/>
                <a:ea typeface="Microsoft YaHei"/>
              </a:rPr>
              <a:t>可复制性落地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 descr="{&quot;isTemplate&quot;:true,&quot;type&quot;:&quot;text&quot;}"/>
          <p:cNvSpPr/>
          <p:nvPr/>
        </p:nvSpPr>
        <p:spPr>
          <a:xfrm>
            <a:off x="8124840" y="577224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三阶段：账户异常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 → 服务台全域 → 跨部门入口型场景；换场景只换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4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个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Microsoft YaHei"/>
                <a:ea typeface="Microsoft YaHei"/>
              </a:rPr>
              <a:t>Skill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Microsoft YaHei"/>
                <a:ea typeface="Microsoft YaHei"/>
              </a:rPr>
              <a:t>17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slides/slide18.xml><?xml version="1.0" encoding="utf-8"?>
<p:sld xmlns:p="http://schemas.openxmlformats.org/presentationml/2006/main" xmlns:a="http://schemas.openxmlformats.org/drawingml/2006/main" xmlns:p14="http://schemas.microsoft.com/office/powerpoint/2010/main" xmlns:mc="http://schemas.openxmlformats.org/markup-compatibility/2006" mc:Ignorable="p14">
  <p:cSld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60000">
                <a:srgbClr val="3B82F6"/>
              </a:gs>
              <a:gs pos="100000">
                <a:srgbClr val="06B6D4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"/>
          <p:cNvSpPr/>
          <p:nvPr/>
        </p:nvSpPr>
        <p:spPr>
          <a:xfrm>
            <a:off x="8381880" y="-1143000"/>
            <a:ext cx="4571640" cy="4571640"/>
          </a:xfrm>
          <a:custGeom>
            <a:avLst/>
            <a:gdLst/>
            <a:ahLst/>
            <a:rect l="l" t="t" r="r" b="b"/>
            <a:pathLst>
              <a:path w="480" h="480">
                <a:moveTo>
                  <a:pt x="400" y="419"/>
                </a:moveTo>
                <a:lnTo>
                  <a:pt x="397" y="421"/>
                </a:lnTo>
                <a:lnTo>
                  <a:pt x="393" y="425"/>
                </a:lnTo>
                <a:lnTo>
                  <a:pt x="388" y="429"/>
                </a:lnTo>
                <a:lnTo>
                  <a:pt x="384" y="432"/>
                </a:lnTo>
                <a:lnTo>
                  <a:pt x="379" y="436"/>
                </a:lnTo>
                <a:lnTo>
                  <a:pt x="374" y="439"/>
                </a:lnTo>
                <a:lnTo>
                  <a:pt x="369" y="442"/>
                </a:lnTo>
                <a:lnTo>
                  <a:pt x="364" y="445"/>
                </a:lnTo>
                <a:lnTo>
                  <a:pt x="359" y="448"/>
                </a:lnTo>
                <a:lnTo>
                  <a:pt x="354" y="451"/>
                </a:lnTo>
                <a:lnTo>
                  <a:pt x="349" y="454"/>
                </a:lnTo>
                <a:lnTo>
                  <a:pt x="344" y="456"/>
                </a:lnTo>
                <a:lnTo>
                  <a:pt x="339" y="459"/>
                </a:lnTo>
                <a:lnTo>
                  <a:pt x="333" y="461"/>
                </a:lnTo>
                <a:lnTo>
                  <a:pt x="328" y="463"/>
                </a:lnTo>
                <a:lnTo>
                  <a:pt x="322" y="465"/>
                </a:lnTo>
                <a:lnTo>
                  <a:pt x="317" y="467"/>
                </a:lnTo>
                <a:lnTo>
                  <a:pt x="311" y="469"/>
                </a:lnTo>
                <a:lnTo>
                  <a:pt x="306" y="471"/>
                </a:lnTo>
                <a:lnTo>
                  <a:pt x="300" y="472"/>
                </a:lnTo>
                <a:lnTo>
                  <a:pt x="294" y="474"/>
                </a:lnTo>
                <a:lnTo>
                  <a:pt x="288" y="475"/>
                </a:lnTo>
                <a:lnTo>
                  <a:pt x="282" y="476"/>
                </a:lnTo>
                <a:lnTo>
                  <a:pt x="277" y="477"/>
                </a:lnTo>
                <a:lnTo>
                  <a:pt x="271" y="478"/>
                </a:lnTo>
                <a:lnTo>
                  <a:pt x="265" y="479"/>
                </a:lnTo>
                <a:lnTo>
                  <a:pt x="258" y="479"/>
                </a:lnTo>
                <a:lnTo>
                  <a:pt x="252" y="480"/>
                </a:lnTo>
                <a:lnTo>
                  <a:pt x="246" y="480"/>
                </a:lnTo>
                <a:lnTo>
                  <a:pt x="240" y="480"/>
                </a:lnTo>
                <a:lnTo>
                  <a:pt x="234" y="480"/>
                </a:lnTo>
                <a:lnTo>
                  <a:pt x="228" y="480"/>
                </a:lnTo>
                <a:lnTo>
                  <a:pt x="222" y="479"/>
                </a:lnTo>
                <a:lnTo>
                  <a:pt x="215" y="479"/>
                </a:lnTo>
                <a:lnTo>
                  <a:pt x="209" y="478"/>
                </a:lnTo>
                <a:lnTo>
                  <a:pt x="203" y="477"/>
                </a:lnTo>
                <a:lnTo>
                  <a:pt x="198" y="476"/>
                </a:lnTo>
                <a:lnTo>
                  <a:pt x="192" y="475"/>
                </a:lnTo>
                <a:lnTo>
                  <a:pt x="186" y="474"/>
                </a:lnTo>
                <a:lnTo>
                  <a:pt x="180" y="472"/>
                </a:lnTo>
                <a:lnTo>
                  <a:pt x="174" y="471"/>
                </a:lnTo>
                <a:lnTo>
                  <a:pt x="169" y="469"/>
                </a:lnTo>
                <a:lnTo>
                  <a:pt x="163" y="467"/>
                </a:lnTo>
                <a:lnTo>
                  <a:pt x="158" y="465"/>
                </a:lnTo>
                <a:lnTo>
                  <a:pt x="152" y="463"/>
                </a:lnTo>
                <a:lnTo>
                  <a:pt x="147" y="461"/>
                </a:lnTo>
                <a:lnTo>
                  <a:pt x="141" y="459"/>
                </a:lnTo>
                <a:lnTo>
                  <a:pt x="136" y="456"/>
                </a:lnTo>
                <a:lnTo>
                  <a:pt x="131" y="454"/>
                </a:lnTo>
                <a:lnTo>
                  <a:pt x="126" y="451"/>
                </a:lnTo>
                <a:lnTo>
                  <a:pt x="121" y="448"/>
                </a:lnTo>
                <a:lnTo>
                  <a:pt x="116" y="445"/>
                </a:lnTo>
                <a:lnTo>
                  <a:pt x="111" y="442"/>
                </a:lnTo>
                <a:lnTo>
                  <a:pt x="106" y="439"/>
                </a:lnTo>
                <a:lnTo>
                  <a:pt x="101" y="436"/>
                </a:lnTo>
                <a:lnTo>
                  <a:pt x="96" y="432"/>
                </a:lnTo>
                <a:lnTo>
                  <a:pt x="92" y="429"/>
                </a:lnTo>
                <a:lnTo>
                  <a:pt x="87" y="425"/>
                </a:lnTo>
                <a:lnTo>
                  <a:pt x="83" y="421"/>
                </a:lnTo>
                <a:lnTo>
                  <a:pt x="79" y="418"/>
                </a:lnTo>
                <a:lnTo>
                  <a:pt x="74" y="414"/>
                </a:lnTo>
                <a:lnTo>
                  <a:pt x="70" y="410"/>
                </a:lnTo>
                <a:lnTo>
                  <a:pt x="66" y="406"/>
                </a:lnTo>
                <a:lnTo>
                  <a:pt x="62" y="401"/>
                </a:lnTo>
                <a:lnTo>
                  <a:pt x="59" y="397"/>
                </a:lnTo>
                <a:lnTo>
                  <a:pt x="55" y="393"/>
                </a:lnTo>
                <a:lnTo>
                  <a:pt x="51" y="388"/>
                </a:lnTo>
                <a:lnTo>
                  <a:pt x="48" y="384"/>
                </a:lnTo>
                <a:lnTo>
                  <a:pt x="44" y="379"/>
                </a:lnTo>
                <a:lnTo>
                  <a:pt x="41" y="374"/>
                </a:lnTo>
                <a:lnTo>
                  <a:pt x="38" y="369"/>
                </a:lnTo>
                <a:lnTo>
                  <a:pt x="35" y="364"/>
                </a:lnTo>
                <a:lnTo>
                  <a:pt x="32" y="359"/>
                </a:lnTo>
                <a:lnTo>
                  <a:pt x="29" y="354"/>
                </a:lnTo>
                <a:lnTo>
                  <a:pt x="26" y="349"/>
                </a:lnTo>
                <a:lnTo>
                  <a:pt x="24" y="344"/>
                </a:lnTo>
                <a:lnTo>
                  <a:pt x="21" y="339"/>
                </a:lnTo>
                <a:lnTo>
                  <a:pt x="19" y="333"/>
                </a:lnTo>
                <a:lnTo>
                  <a:pt x="17" y="328"/>
                </a:lnTo>
                <a:lnTo>
                  <a:pt x="15" y="322"/>
                </a:lnTo>
                <a:lnTo>
                  <a:pt x="13" y="317"/>
                </a:lnTo>
                <a:lnTo>
                  <a:pt x="11" y="311"/>
                </a:lnTo>
                <a:lnTo>
                  <a:pt x="9" y="306"/>
                </a:lnTo>
                <a:lnTo>
                  <a:pt x="8" y="300"/>
                </a:lnTo>
                <a:lnTo>
                  <a:pt x="6" y="294"/>
                </a:lnTo>
                <a:lnTo>
                  <a:pt x="5" y="288"/>
                </a:lnTo>
                <a:lnTo>
                  <a:pt x="4" y="282"/>
                </a:lnTo>
                <a:lnTo>
                  <a:pt x="3" y="277"/>
                </a:lnTo>
                <a:lnTo>
                  <a:pt x="2" y="271"/>
                </a:lnTo>
                <a:lnTo>
                  <a:pt x="1" y="265"/>
                </a:lnTo>
                <a:lnTo>
                  <a:pt x="1" y="258"/>
                </a:lnTo>
                <a:lnTo>
                  <a:pt x="0" y="252"/>
                </a:lnTo>
                <a:lnTo>
                  <a:pt x="0" y="246"/>
                </a:lnTo>
                <a:lnTo>
                  <a:pt x="0" y="240"/>
                </a:lnTo>
                <a:lnTo>
                  <a:pt x="0" y="234"/>
                </a:lnTo>
                <a:lnTo>
                  <a:pt x="0" y="228"/>
                </a:lnTo>
                <a:lnTo>
                  <a:pt x="1" y="222"/>
                </a:lnTo>
                <a:lnTo>
                  <a:pt x="1" y="215"/>
                </a:lnTo>
                <a:lnTo>
                  <a:pt x="2" y="209"/>
                </a:lnTo>
                <a:lnTo>
                  <a:pt x="3" y="203"/>
                </a:lnTo>
                <a:lnTo>
                  <a:pt x="4" y="198"/>
                </a:lnTo>
                <a:lnTo>
                  <a:pt x="5" y="192"/>
                </a:lnTo>
                <a:lnTo>
                  <a:pt x="6" y="186"/>
                </a:lnTo>
                <a:lnTo>
                  <a:pt x="8" y="180"/>
                </a:lnTo>
                <a:lnTo>
                  <a:pt x="9" y="174"/>
                </a:lnTo>
                <a:lnTo>
                  <a:pt x="11" y="169"/>
                </a:lnTo>
                <a:lnTo>
                  <a:pt x="13" y="163"/>
                </a:lnTo>
                <a:lnTo>
                  <a:pt x="15" y="158"/>
                </a:lnTo>
                <a:lnTo>
                  <a:pt x="17" y="152"/>
                </a:lnTo>
                <a:lnTo>
                  <a:pt x="19" y="147"/>
                </a:lnTo>
                <a:lnTo>
                  <a:pt x="21" y="141"/>
                </a:lnTo>
                <a:lnTo>
                  <a:pt x="24" y="136"/>
                </a:lnTo>
                <a:lnTo>
                  <a:pt x="26" y="131"/>
                </a:lnTo>
                <a:lnTo>
                  <a:pt x="29" y="126"/>
                </a:lnTo>
                <a:lnTo>
                  <a:pt x="32" y="121"/>
                </a:lnTo>
                <a:lnTo>
                  <a:pt x="32" y="120"/>
                </a:lnTo>
                <a:lnTo>
                  <a:pt x="400" y="12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"/>
          <p:cNvSpPr/>
          <p:nvPr/>
        </p:nvSpPr>
        <p:spPr>
          <a:xfrm>
            <a:off x="-571680" y="4381560"/>
            <a:ext cx="4000320" cy="4000320"/>
          </a:xfrm>
          <a:custGeom>
            <a:avLst/>
            <a:gdLst/>
            <a:ahLst/>
            <a:rect l="l" t="t" r="r" b="b"/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1" y="88"/>
                </a:lnTo>
                <a:lnTo>
                  <a:pt x="384" y="93"/>
                </a:lnTo>
                <a:lnTo>
                  <a:pt x="387" y="97"/>
                </a:lnTo>
                <a:lnTo>
                  <a:pt x="390" y="101"/>
                </a:lnTo>
                <a:lnTo>
                  <a:pt x="392" y="106"/>
                </a:lnTo>
                <a:lnTo>
                  <a:pt x="395" y="110"/>
                </a:lnTo>
                <a:lnTo>
                  <a:pt x="397" y="114"/>
                </a:lnTo>
                <a:lnTo>
                  <a:pt x="399" y="119"/>
                </a:lnTo>
                <a:lnTo>
                  <a:pt x="401" y="124"/>
                </a:lnTo>
                <a:lnTo>
                  <a:pt x="403" y="128"/>
                </a:lnTo>
                <a:lnTo>
                  <a:pt x="405" y="133"/>
                </a:lnTo>
                <a:lnTo>
                  <a:pt x="407" y="138"/>
                </a:lnTo>
                <a:lnTo>
                  <a:pt x="409" y="143"/>
                </a:lnTo>
                <a:lnTo>
                  <a:pt x="411" y="148"/>
                </a:lnTo>
                <a:lnTo>
                  <a:pt x="412" y="153"/>
                </a:lnTo>
                <a:lnTo>
                  <a:pt x="413" y="158"/>
                </a:lnTo>
                <a:lnTo>
                  <a:pt x="415" y="163"/>
                </a:lnTo>
                <a:lnTo>
                  <a:pt x="416" y="168"/>
                </a:lnTo>
                <a:lnTo>
                  <a:pt x="417" y="173"/>
                </a:lnTo>
                <a:lnTo>
                  <a:pt x="418" y="178"/>
                </a:lnTo>
                <a:lnTo>
                  <a:pt x="418" y="183"/>
                </a:lnTo>
                <a:lnTo>
                  <a:pt x="419" y="189"/>
                </a:lnTo>
                <a:lnTo>
                  <a:pt x="419" y="194"/>
                </a:lnTo>
                <a:lnTo>
                  <a:pt x="420" y="199"/>
                </a:lnTo>
                <a:lnTo>
                  <a:pt x="420" y="205"/>
                </a:lnTo>
                <a:lnTo>
                  <a:pt x="420" y="210"/>
                </a:lnTo>
                <a:lnTo>
                  <a:pt x="420" y="215"/>
                </a:lnTo>
                <a:lnTo>
                  <a:pt x="420" y="221"/>
                </a:lnTo>
                <a:lnTo>
                  <a:pt x="419" y="226"/>
                </a:lnTo>
                <a:lnTo>
                  <a:pt x="419" y="231"/>
                </a:lnTo>
                <a:lnTo>
                  <a:pt x="418" y="237"/>
                </a:lnTo>
                <a:lnTo>
                  <a:pt x="418" y="242"/>
                </a:lnTo>
                <a:lnTo>
                  <a:pt x="417" y="247"/>
                </a:lnTo>
                <a:lnTo>
                  <a:pt x="416" y="252"/>
                </a:lnTo>
                <a:lnTo>
                  <a:pt x="415" y="257"/>
                </a:lnTo>
                <a:lnTo>
                  <a:pt x="414" y="260"/>
                </a:lnTo>
                <a:lnTo>
                  <a:pt x="60" y="260"/>
                </a:lnTo>
                <a:lnTo>
                  <a:pt x="60" y="63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"/>
          <p:cNvSpPr/>
          <p:nvPr/>
        </p:nvSpPr>
        <p:spPr>
          <a:xfrm>
            <a:off x="1523880" y="1905120"/>
            <a:ext cx="95040" cy="95040"/>
          </a:xfrm>
          <a:custGeom>
            <a:avLst/>
            <a:gdLst/>
            <a:ahLst/>
            <a:rect l="l" t="t" r="r" b="b"/>
            <a:pathLst>
              <a:path w="10" h="10">
                <a:moveTo>
                  <a:pt x="5" y="0"/>
                </a:moveTo>
                <a:lnTo>
                  <a:pt x="5" y="0"/>
                </a:lnTo>
                <a:cubicBezTo>
                  <a:pt x="8" y="0"/>
                  <a:pt x="10" y="2"/>
                  <a:pt x="10" y="5"/>
                </a:cubicBezTo>
                <a:lnTo>
                  <a:pt x="10" y="5"/>
                </a:lnTo>
                <a:cubicBezTo>
                  <a:pt x="10" y="8"/>
                  <a:pt x="8" y="10"/>
                  <a:pt x="5" y="10"/>
                </a:cubicBezTo>
                <a:lnTo>
                  <a:pt x="5" y="10"/>
                </a:lnTo>
                <a:cubicBezTo>
                  <a:pt x="2" y="10"/>
                  <a:pt x="0" y="8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FFFFFF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"/>
          <p:cNvSpPr/>
          <p:nvPr/>
        </p:nvSpPr>
        <p:spPr>
          <a:xfrm>
            <a:off x="10020240" y="4876920"/>
            <a:ext cx="75960" cy="75960"/>
          </a:xfrm>
          <a:custGeom>
            <a:avLst/>
            <a:gdLst/>
            <a:ahLst/>
            <a:rect l="l" t="t" r="r" b="b"/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0960" rIns="90000" bIns="3096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" descr="{&quot;isTemplate&quot;:true,&quot;type&quot;:&quot;text&quot;}"/>
          <p:cNvSpPr/>
          <p:nvPr/>
        </p:nvSpPr>
        <p:spPr>
          <a:xfrm>
            <a:off x="3152880" y="2162160"/>
            <a:ext cx="58957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40000"/>
              </a:lnSpc>
            </a:pP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让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IT 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服务从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"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消耗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"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走向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"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资产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"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 descr="{&quot;isTemplate&quot;:true,&quot;type&quot;:&quot;text&quot;}"/>
          <p:cNvSpPr/>
          <p:nvPr/>
        </p:nvSpPr>
        <p:spPr>
          <a:xfrm>
            <a:off x="2895480" y="3095640"/>
            <a:ext cx="64004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60000"/>
              </a:lnSpc>
            </a:pPr>
            <a:r>
              <a:rPr lang="zh-CN" sz="180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Microsoft YaHei"/>
                <a:ea typeface="Microsoft YaHei"/>
              </a:rPr>
              <a:t>从个人经验救火，到可运营、可追溯、可演进的体系化服务能力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5619600" y="384804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" descr="{&quot;isTemplate&quot;:true,&quot;type&quot;:&quot;text&quot;}"/>
          <p:cNvSpPr/>
          <p:nvPr/>
        </p:nvSpPr>
        <p:spPr>
          <a:xfrm>
            <a:off x="3200400" y="4191120"/>
            <a:ext cx="5790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ServiceDesk Pilot · GOAI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世界人工智能开源大赛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Agent Infra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Microsoft YaHei"/>
                <a:ea typeface="Microsoft YaHei"/>
              </a:rPr>
              <a:t>赛道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 descr="{&quot;isTemplate&quot;:true,&quot;type&quot;:&quot;text&quot;}"/>
          <p:cNvSpPr/>
          <p:nvPr/>
        </p:nvSpPr>
        <p:spPr>
          <a:xfrm>
            <a:off x="3381480" y="4514760"/>
            <a:ext cx="5438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基于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AgentTeams · Skill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工程化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MCP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统一接入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RAG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专家经验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全链路可审计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Microsoft YaHei"/>
                <a:ea typeface="Microsoft YaHei"/>
              </a:rPr>
              <a:t>18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thm15="http://schemas.microsoft.com/office/thememl/2012/main" xmlns:mc="http://schemas.openxmlformats.org/markup-compatibility/2006" name="Office 主题​​" mc:Ignorable="thm1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2026-08-07T19:02:15Z</dcterms:created>
  <dcterms:modified xsi:type="dcterms:W3CDTF">2026-08-07T19:02:15Z</dcterms:modified>
</cp:coreProperties>
</file>